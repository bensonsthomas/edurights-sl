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5"/>
  </p:notesMasterIdLst>
  <p:sldIdLst>
    <p:sldId id="256" r:id="rId2"/>
    <p:sldId id="258" r:id="rId3"/>
    <p:sldId id="257" r:id="rId4"/>
    <p:sldId id="281" r:id="rId5"/>
    <p:sldId id="282" r:id="rId6"/>
    <p:sldId id="259" r:id="rId7"/>
    <p:sldId id="26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61" r:id="rId27"/>
    <p:sldId id="283" r:id="rId28"/>
    <p:sldId id="285" r:id="rId29"/>
    <p:sldId id="284" r:id="rId30"/>
    <p:sldId id="287" r:id="rId31"/>
    <p:sldId id="286" r:id="rId32"/>
    <p:sldId id="288" r:id="rId33"/>
    <p:sldId id="280"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91"/>
    <p:restoredTop sz="96405"/>
  </p:normalViewPr>
  <p:slideViewPr>
    <p:cSldViewPr snapToGrid="0">
      <p:cViewPr varScale="1">
        <p:scale>
          <a:sx n="65" d="100"/>
          <a:sy n="65" d="100"/>
        </p:scale>
        <p:origin x="85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FA0420-623A-104A-8901-D83B63A1E660}" type="datetimeFigureOut">
              <a:rPr lang="en-SL" smtClean="0"/>
              <a:t>03/23/2026</a:t>
            </a:fld>
            <a:endParaRPr lang="en-S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474951-2C74-D643-AB10-B943E48EDE1B}" type="slidenum">
              <a:rPr lang="en-SL" smtClean="0"/>
              <a:t>‹#›</a:t>
            </a:fld>
            <a:endParaRPr lang="en-SL"/>
          </a:p>
        </p:txBody>
      </p:sp>
    </p:spTree>
    <p:extLst>
      <p:ext uri="{BB962C8B-B14F-4D97-AF65-F5344CB8AC3E}">
        <p14:creationId xmlns:p14="http://schemas.microsoft.com/office/powerpoint/2010/main" val="1339432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L" dirty="0"/>
          </a:p>
        </p:txBody>
      </p:sp>
      <p:sp>
        <p:nvSpPr>
          <p:cNvPr id="4" name="Slide Number Placeholder 3"/>
          <p:cNvSpPr>
            <a:spLocks noGrp="1"/>
          </p:cNvSpPr>
          <p:nvPr>
            <p:ph type="sldNum" sz="quarter" idx="5"/>
          </p:nvPr>
        </p:nvSpPr>
        <p:spPr/>
        <p:txBody>
          <a:bodyPr/>
          <a:lstStyle/>
          <a:p>
            <a:fld id="{0F474951-2C74-D643-AB10-B943E48EDE1B}" type="slidenum">
              <a:rPr lang="en-SL" smtClean="0"/>
              <a:t>1</a:t>
            </a:fld>
            <a:endParaRPr lang="en-SL"/>
          </a:p>
        </p:txBody>
      </p:sp>
    </p:spTree>
    <p:extLst>
      <p:ext uri="{BB962C8B-B14F-4D97-AF65-F5344CB8AC3E}">
        <p14:creationId xmlns:p14="http://schemas.microsoft.com/office/powerpoint/2010/main" val="2949366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474951-2C74-D643-AB10-B943E48EDE1B}" type="slidenum">
              <a:rPr lang="en-SL" smtClean="0"/>
              <a:t>14</a:t>
            </a:fld>
            <a:endParaRPr lang="en-SL"/>
          </a:p>
        </p:txBody>
      </p:sp>
    </p:spTree>
    <p:extLst>
      <p:ext uri="{BB962C8B-B14F-4D97-AF65-F5344CB8AC3E}">
        <p14:creationId xmlns:p14="http://schemas.microsoft.com/office/powerpoint/2010/main" val="812846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41606"/>
            <a:ext cx="9144000" cy="2566386"/>
          </a:xfrm>
          <a:prstGeom prst="rect">
            <a:avLst/>
          </a:prstGeom>
        </p:spPr>
        <p:txBody>
          <a:bodyPr anchor="b"/>
          <a:lstStyle>
            <a:lvl1pPr algn="ctr">
              <a:defRPr sz="6000"/>
            </a:lvl1pPr>
          </a:lstStyle>
          <a:p>
            <a:r>
              <a:rPr lang="en-GB" dirty="0"/>
              <a:t>Click to edit Master title style</a:t>
            </a:r>
            <a:endParaRPr lang="en-US" dirty="0"/>
          </a:p>
        </p:txBody>
      </p:sp>
      <p:sp>
        <p:nvSpPr>
          <p:cNvPr id="3" name="Subtitle 2"/>
          <p:cNvSpPr>
            <a:spLocks noGrp="1"/>
          </p:cNvSpPr>
          <p:nvPr>
            <p:ph type="subTitle" idx="1"/>
          </p:nvPr>
        </p:nvSpPr>
        <p:spPr>
          <a:xfrm>
            <a:off x="1524000" y="4626863"/>
            <a:ext cx="9144000" cy="1134173"/>
          </a:xfrm>
          <a:prstGeom prst="rect">
            <a:avLst/>
          </a:prstGeom>
        </p:spPr>
        <p:txBody>
          <a:bodyPr/>
          <a:lstStyle>
            <a:lvl1pPr marL="0" indent="0" algn="ctr">
              <a:buNone/>
              <a:defRPr sz="2400">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Tree>
    <p:extLst>
      <p:ext uri="{BB962C8B-B14F-4D97-AF65-F5344CB8AC3E}">
        <p14:creationId xmlns:p14="http://schemas.microsoft.com/office/powerpoint/2010/main" val="2073380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050531"/>
          </a:xfrm>
          <a:prstGeom prst="rect">
            <a:avLst/>
          </a:prstGeom>
        </p:spPr>
        <p:txBody>
          <a:bodyPr anchor="ctr"/>
          <a:lstStyle/>
          <a:p>
            <a:r>
              <a:rPr lang="en-GB"/>
              <a:t>Click to edit Master title style</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7">
            <a:extLst>
              <a:ext uri="{FF2B5EF4-FFF2-40B4-BE49-F238E27FC236}">
                <a16:creationId xmlns:a16="http://schemas.microsoft.com/office/drawing/2014/main" id="{348062B8-AB82-F2B3-3101-23B44D8D606A}"/>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1179791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Footer Placeholder 7">
            <a:extLst>
              <a:ext uri="{FF2B5EF4-FFF2-40B4-BE49-F238E27FC236}">
                <a16:creationId xmlns:a16="http://schemas.microsoft.com/office/drawing/2014/main" id="{364D8A2B-30B9-0C15-7F64-0649FFCC19DB}"/>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1894526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050531"/>
          </a:xfrm>
          <a:prstGeom prst="rect">
            <a:avLst/>
          </a:prstGeom>
        </p:spPr>
        <p:txBody>
          <a:bodyPr anchor="ct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Footer Placeholder 7">
            <a:extLst>
              <a:ext uri="{FF2B5EF4-FFF2-40B4-BE49-F238E27FC236}">
                <a16:creationId xmlns:a16="http://schemas.microsoft.com/office/drawing/2014/main" id="{B851334D-5ECD-EAA3-2745-D5C5E2235829}"/>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637265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43784" y="265177"/>
            <a:ext cx="8511604" cy="1060703"/>
          </a:xfrm>
          <a:prstGeom prst="rect">
            <a:avLst/>
          </a:prstGeom>
        </p:spPr>
        <p:txBody>
          <a:bodyPr anchor="ct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Footer Placeholder 7">
            <a:extLst>
              <a:ext uri="{FF2B5EF4-FFF2-40B4-BE49-F238E27FC236}">
                <a16:creationId xmlns:a16="http://schemas.microsoft.com/office/drawing/2014/main" id="{8D0414B7-8E21-99AD-DF91-1DCCECDD55D0}"/>
              </a:ext>
            </a:extLst>
          </p:cNvPr>
          <p:cNvSpPr>
            <a:spLocks noGrp="1"/>
          </p:cNvSpPr>
          <p:nvPr>
            <p:ph type="ftr" sz="quarter" idx="10"/>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176047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050531"/>
          </a:xfrm>
          <a:prstGeom prst="rect">
            <a:avLst/>
          </a:prstGeom>
        </p:spPr>
        <p:txBody>
          <a:bodyPr anchor="ctr"/>
          <a:lstStyle/>
          <a:p>
            <a:r>
              <a:rPr lang="en-GB"/>
              <a:t>Click to edit Master title style</a:t>
            </a:r>
            <a:endParaRPr lang="en-US" dirty="0"/>
          </a:p>
        </p:txBody>
      </p:sp>
      <p:sp>
        <p:nvSpPr>
          <p:cNvPr id="6" name="Footer Placeholder 7">
            <a:extLst>
              <a:ext uri="{FF2B5EF4-FFF2-40B4-BE49-F238E27FC236}">
                <a16:creationId xmlns:a16="http://schemas.microsoft.com/office/drawing/2014/main" id="{C9302E01-FFBE-4FF0-034F-30AE985A79ED}"/>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457503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7">
            <a:extLst>
              <a:ext uri="{FF2B5EF4-FFF2-40B4-BE49-F238E27FC236}">
                <a16:creationId xmlns:a16="http://schemas.microsoft.com/office/drawing/2014/main" id="{A6526409-90E9-E7E1-3A56-5E9CC7FAF266}"/>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4120280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Footer Placeholder 7">
            <a:extLst>
              <a:ext uri="{FF2B5EF4-FFF2-40B4-BE49-F238E27FC236}">
                <a16:creationId xmlns:a16="http://schemas.microsoft.com/office/drawing/2014/main" id="{30FAA1DA-807D-5822-720A-CDE3F6847ADD}"/>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423088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Footer Placeholder 7">
            <a:extLst>
              <a:ext uri="{FF2B5EF4-FFF2-40B4-BE49-F238E27FC236}">
                <a16:creationId xmlns:a16="http://schemas.microsoft.com/office/drawing/2014/main" id="{4C9D83BE-7273-D727-7A95-1537E313079C}"/>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3794633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050531"/>
          </a:xfrm>
          <a:prstGeom prst="rect">
            <a:avLst/>
          </a:prstGeo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7">
            <a:extLst>
              <a:ext uri="{FF2B5EF4-FFF2-40B4-BE49-F238E27FC236}">
                <a16:creationId xmlns:a16="http://schemas.microsoft.com/office/drawing/2014/main" id="{8669B2F4-83DB-3FF1-8FDF-AA9829120606}"/>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692221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7">
            <a:extLst>
              <a:ext uri="{FF2B5EF4-FFF2-40B4-BE49-F238E27FC236}">
                <a16:creationId xmlns:a16="http://schemas.microsoft.com/office/drawing/2014/main" id="{B306E8DF-42D3-5DCD-9E8E-8F8E91F971AB}"/>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1757644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BF1A32-7ED7-AE66-BF3F-32FEBA886B5D}"/>
              </a:ext>
            </a:extLst>
          </p:cNvPr>
          <p:cNvPicPr>
            <a:picLocks noChangeAspect="1"/>
          </p:cNvPicPr>
          <p:nvPr userDrawn="1"/>
        </p:nvPicPr>
        <p:blipFill rotWithShape="1">
          <a:blip r:embed="rId13">
            <a:extLst>
              <a:ext uri="{BEBA8EAE-BF5A-486C-A8C5-ECC9F3942E4B}">
                <a14:imgProps xmlns:a14="http://schemas.microsoft.com/office/drawing/2010/main">
                  <a14:imgLayer r:embed="rId14">
                    <a14:imgEffect>
                      <a14:sharpenSoften amount="50000"/>
                    </a14:imgEffect>
                    <a14:imgEffect>
                      <a14:brightnessContrast contrast="100000"/>
                    </a14:imgEffect>
                  </a14:imgLayer>
                </a14:imgProps>
              </a:ext>
              <a:ext uri="{28A0092B-C50C-407E-A947-70E740481C1C}">
                <a14:useLocalDpi xmlns:a14="http://schemas.microsoft.com/office/drawing/2010/main" val="0"/>
              </a:ext>
            </a:extLst>
          </a:blip>
          <a:srcRect l="375" t="600" r="642"/>
          <a:stretch/>
        </p:blipFill>
        <p:spPr bwMode="auto">
          <a:xfrm>
            <a:off x="838200" y="282931"/>
            <a:ext cx="1765324" cy="1050531"/>
          </a:xfrm>
          <a:prstGeom prst="rect">
            <a:avLst/>
          </a:prstGeom>
          <a:noFill/>
          <a:ln>
            <a:noFill/>
          </a:ln>
        </p:spPr>
      </p:pic>
      <p:cxnSp>
        <p:nvCxnSpPr>
          <p:cNvPr id="10" name="Straight Connector 9">
            <a:extLst>
              <a:ext uri="{FF2B5EF4-FFF2-40B4-BE49-F238E27FC236}">
                <a16:creationId xmlns:a16="http://schemas.microsoft.com/office/drawing/2014/main" id="{ACA603D9-487D-F442-A363-C94794B2E8A7}"/>
              </a:ext>
            </a:extLst>
          </p:cNvPr>
          <p:cNvCxnSpPr>
            <a:cxnSpLocks/>
          </p:cNvCxnSpPr>
          <p:nvPr userDrawn="1"/>
        </p:nvCxnSpPr>
        <p:spPr>
          <a:xfrm>
            <a:off x="838200" y="617696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90EC78E-36D0-6EDD-4F54-599D4DCFD2F1}"/>
              </a:ext>
            </a:extLst>
          </p:cNvPr>
          <p:cNvCxnSpPr>
            <a:cxnSpLocks/>
          </p:cNvCxnSpPr>
          <p:nvPr userDrawn="1"/>
        </p:nvCxnSpPr>
        <p:spPr>
          <a:xfrm>
            <a:off x="838200" y="6438735"/>
            <a:ext cx="10515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itle Placeholder 16">
            <a:extLst>
              <a:ext uri="{FF2B5EF4-FFF2-40B4-BE49-F238E27FC236}">
                <a16:creationId xmlns:a16="http://schemas.microsoft.com/office/drawing/2014/main" id="{4EB62306-4DB1-0C16-FD02-F978E22A713D}"/>
              </a:ext>
            </a:extLst>
          </p:cNvPr>
          <p:cNvSpPr>
            <a:spLocks noGrp="1"/>
          </p:cNvSpPr>
          <p:nvPr>
            <p:ph type="title"/>
          </p:nvPr>
        </p:nvSpPr>
        <p:spPr>
          <a:xfrm>
            <a:off x="2751513" y="291794"/>
            <a:ext cx="8602287" cy="930177"/>
          </a:xfrm>
          <a:prstGeom prst="rect">
            <a:avLst/>
          </a:prstGeom>
        </p:spPr>
        <p:txBody>
          <a:bodyPr vert="horz" lIns="91440" tIns="45720" rIns="91440" bIns="45720" rtlCol="0" anchor="ctr">
            <a:normAutofit/>
          </a:bodyPr>
          <a:lstStyle/>
          <a:p>
            <a:r>
              <a:rPr lang="en-GB"/>
              <a:t>Click to edit Master title style</a:t>
            </a:r>
            <a:endParaRPr lang="en-SL"/>
          </a:p>
        </p:txBody>
      </p:sp>
      <p:sp>
        <p:nvSpPr>
          <p:cNvPr id="18" name="Text Placeholder 17">
            <a:extLst>
              <a:ext uri="{FF2B5EF4-FFF2-40B4-BE49-F238E27FC236}">
                <a16:creationId xmlns:a16="http://schemas.microsoft.com/office/drawing/2014/main" id="{AD394821-2868-4EF8-6E39-CCCC04BF74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L"/>
          </a:p>
        </p:txBody>
      </p:sp>
      <p:cxnSp>
        <p:nvCxnSpPr>
          <p:cNvPr id="3" name="Straight Connector 2">
            <a:extLst>
              <a:ext uri="{FF2B5EF4-FFF2-40B4-BE49-F238E27FC236}">
                <a16:creationId xmlns:a16="http://schemas.microsoft.com/office/drawing/2014/main" id="{4EAD2543-0F31-E0B8-C1CA-64FAF24066C2}"/>
              </a:ext>
            </a:extLst>
          </p:cNvPr>
          <p:cNvCxnSpPr/>
          <p:nvPr userDrawn="1"/>
        </p:nvCxnSpPr>
        <p:spPr>
          <a:xfrm>
            <a:off x="2751513" y="1333462"/>
            <a:ext cx="86022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483148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3600" b="1" kern="1200">
          <a:solidFill>
            <a:schemeClr val="tx1"/>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hyperlink" Target="mailto:Sheku.dkamara@Limkokwing.edu.s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A323B-F5C3-B592-FB36-4B5BAEECEC8A}"/>
              </a:ext>
            </a:extLst>
          </p:cNvPr>
          <p:cNvSpPr>
            <a:spLocks noGrp="1"/>
          </p:cNvSpPr>
          <p:nvPr>
            <p:ph type="ctrTitle"/>
          </p:nvPr>
        </p:nvSpPr>
        <p:spPr>
          <a:xfrm>
            <a:off x="838200" y="1941606"/>
            <a:ext cx="10515600" cy="1044482"/>
          </a:xfrm>
        </p:spPr>
        <p:txBody>
          <a:bodyPr anchor="ctr">
            <a:noAutofit/>
          </a:bodyPr>
          <a:lstStyle/>
          <a:p>
            <a:r>
              <a:rPr lang="en-US" sz="2800" dirty="0" smtClean="0">
                <a:latin typeface="Tahoma" panose="020B0604030504040204" pitchFamily="34" charset="0"/>
                <a:ea typeface="Tahoma" panose="020B0604030504040204" pitchFamily="34" charset="0"/>
                <a:cs typeface="Tahoma" panose="020B0604030504040204" pitchFamily="34" charset="0"/>
              </a:rPr>
              <a:t>TOPIC:</a:t>
            </a:r>
            <a:r>
              <a:rPr lang="en-US" cap="small" dirty="0"/>
              <a:t> </a:t>
            </a:r>
            <a:r>
              <a:rPr lang="en-US" sz="2800" dirty="0"/>
              <a:t>COPYRIGHT AND SOFTWARE OWNERSHIP</a:t>
            </a:r>
          </a:p>
        </p:txBody>
      </p:sp>
      <p:sp>
        <p:nvSpPr>
          <p:cNvPr id="3" name="Subtitle 2">
            <a:extLst>
              <a:ext uri="{FF2B5EF4-FFF2-40B4-BE49-F238E27FC236}">
                <a16:creationId xmlns:a16="http://schemas.microsoft.com/office/drawing/2014/main" id="{B6A380B1-3D40-258B-262F-E3A1CE85CEE4}"/>
              </a:ext>
            </a:extLst>
          </p:cNvPr>
          <p:cNvSpPr>
            <a:spLocks noGrp="1"/>
          </p:cNvSpPr>
          <p:nvPr>
            <p:ph type="subTitle" idx="1"/>
          </p:nvPr>
        </p:nvSpPr>
        <p:spPr>
          <a:xfrm>
            <a:off x="1524000" y="4867351"/>
            <a:ext cx="9144000" cy="861938"/>
          </a:xfrm>
        </p:spPr>
        <p:txBody>
          <a:bodyPr>
            <a:normAutofit/>
          </a:bodyPr>
          <a:lstStyle/>
          <a:p>
            <a:r>
              <a:rPr lang="en-SL" sz="3200" dirty="0" smtClean="0">
                <a:latin typeface="Tahoma" panose="020B0604030504040204" pitchFamily="34" charset="0"/>
                <a:ea typeface="Tahoma" panose="020B0604030504040204" pitchFamily="34" charset="0"/>
                <a:cs typeface="Tahoma" panose="020B0604030504040204" pitchFamily="34" charset="0"/>
              </a:rPr>
              <a:t>WEEK </a:t>
            </a:r>
            <a:r>
              <a:rPr lang="en-US" sz="3200" dirty="0"/>
              <a:t>2</a:t>
            </a:r>
            <a:endParaRPr lang="en-SL" sz="3200" dirty="0">
              <a:latin typeface="Tahoma" panose="020B0604030504040204" pitchFamily="34" charset="0"/>
              <a:ea typeface="Tahoma" panose="020B0604030504040204" pitchFamily="34" charset="0"/>
              <a:cs typeface="Tahoma" panose="020B0604030504040204" pitchFamily="34" charset="0"/>
            </a:endParaRPr>
          </a:p>
        </p:txBody>
      </p:sp>
      <p:sp>
        <p:nvSpPr>
          <p:cNvPr id="4" name="Footer Placeholder 7">
            <a:extLst>
              <a:ext uri="{FF2B5EF4-FFF2-40B4-BE49-F238E27FC236}">
                <a16:creationId xmlns:a16="http://schemas.microsoft.com/office/drawing/2014/main" id="{AA5908C0-CE78-2C19-AE4A-3DE035E8370B}"/>
              </a:ext>
            </a:extLst>
          </p:cNvPr>
          <p:cNvSpPr txBox="1">
            <a:spLocks/>
          </p:cNvSpPr>
          <p:nvPr/>
        </p:nvSpPr>
        <p:spPr>
          <a:xfrm>
            <a:off x="1181100" y="6297402"/>
            <a:ext cx="10515600" cy="365125"/>
          </a:xfrm>
          <a:prstGeom prst="rect">
            <a:avLst/>
          </a:prstGeom>
          <a:ln>
            <a:noFill/>
          </a:ln>
        </p:spPr>
        <p:txBody>
          <a:bodyPr vert="horz" lIns="91440" tIns="45720" rIns="91440" bIns="45720" rtlCol="0" anchor="ctr"/>
          <a:lstStyle>
            <a:defPPr>
              <a:defRPr lang="en-US"/>
            </a:defPPr>
            <a:lvl1pPr marL="0" marR="0" indent="0" algn="ctr" defTabSz="457200" rtl="0" eaLnBrk="1" fontAlgn="auto" latinLnBrk="0" hangingPunct="1">
              <a:lnSpc>
                <a:spcPct val="100000"/>
              </a:lnSpc>
              <a:spcBef>
                <a:spcPts val="0"/>
              </a:spcBef>
              <a:spcAft>
                <a:spcPts val="0"/>
              </a:spcAft>
              <a:buClrTx/>
              <a:buSzTx/>
              <a:buFontTx/>
              <a:buNone/>
              <a:tabLst/>
              <a:defRPr sz="900" kern="12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1200" b="1" dirty="0" smtClean="0"/>
              <a:t>DLAW207-I.T LAW &amp;IPR LEGAL ISSUES</a:t>
            </a:r>
            <a:endParaRPr lang="en-GB" sz="1200" b="1" dirty="0"/>
          </a:p>
          <a:p>
            <a:r>
              <a:rPr lang="en-US" sz="800" dirty="0" smtClean="0"/>
              <a:t>d</a:t>
            </a:r>
            <a:endParaRPr lang="en-SL" sz="800" dirty="0"/>
          </a:p>
        </p:txBody>
      </p:sp>
      <p:sp>
        <p:nvSpPr>
          <p:cNvPr id="5" name="TextBox 4"/>
          <p:cNvSpPr txBox="1"/>
          <p:nvPr/>
        </p:nvSpPr>
        <p:spPr>
          <a:xfrm>
            <a:off x="3343275" y="600075"/>
            <a:ext cx="6815138" cy="461665"/>
          </a:xfrm>
          <a:prstGeom prst="rect">
            <a:avLst/>
          </a:prstGeom>
          <a:noFill/>
        </p:spPr>
        <p:txBody>
          <a:bodyPr wrap="square" rtlCol="0">
            <a:spAutoFit/>
          </a:bodyPr>
          <a:lstStyle/>
          <a:p>
            <a:pPr algn="ctr"/>
            <a:r>
              <a:rPr lang="en-GB" sz="2400" b="1" dirty="0" smtClean="0">
                <a:latin typeface="Tahoma" panose="020B0604030504040204" pitchFamily="34" charset="0"/>
                <a:ea typeface="Tahoma" panose="020B0604030504040204" pitchFamily="34" charset="0"/>
                <a:cs typeface="Tahoma" panose="020B0604030504040204" pitchFamily="34" charset="0"/>
              </a:rPr>
              <a:t>DLAW207-</a:t>
            </a:r>
            <a:r>
              <a:rPr lang="en-US" sz="2400" b="1" dirty="0" smtClean="0">
                <a:latin typeface="Tahoma" panose="020B0604030504040204" pitchFamily="34" charset="0"/>
                <a:ea typeface="Tahoma" panose="020B0604030504040204" pitchFamily="34" charset="0"/>
                <a:cs typeface="Tahoma" panose="020B0604030504040204" pitchFamily="34" charset="0"/>
              </a:rPr>
              <a:t>I.T LAW &amp; IPR LEGAL ISSUES</a:t>
            </a:r>
            <a:endParaRPr lang="en-US" sz="2400" b="1" dirty="0">
              <a:latin typeface="Tahoma" panose="020B0604030504040204" pitchFamily="34" charset="0"/>
              <a:ea typeface="Tahoma" panose="020B0604030504040204" pitchFamily="34" charset="0"/>
              <a:cs typeface="Tahoma" panose="020B0604030504040204" pitchFamily="34" charset="0"/>
            </a:endParaRPr>
          </a:p>
        </p:txBody>
      </p:sp>
      <p:sp>
        <p:nvSpPr>
          <p:cNvPr id="6" name="TextBox 5"/>
          <p:cNvSpPr txBox="1"/>
          <p:nvPr/>
        </p:nvSpPr>
        <p:spPr>
          <a:xfrm>
            <a:off x="2843213" y="3380179"/>
            <a:ext cx="5929312" cy="1384995"/>
          </a:xfrm>
          <a:prstGeom prst="rect">
            <a:avLst/>
          </a:prstGeom>
          <a:noFill/>
        </p:spPr>
        <p:txBody>
          <a:bodyPr wrap="square" rtlCol="0">
            <a:spAutoFit/>
          </a:bodyPr>
          <a:lstStyle/>
          <a:p>
            <a:pPr algn="ctr"/>
            <a:r>
              <a:rPr lang="en-US" sz="2800" dirty="0" smtClean="0"/>
              <a:t>ENGINEER SHEKU DINNEH KAMARA</a:t>
            </a:r>
          </a:p>
          <a:p>
            <a:pPr algn="ctr"/>
            <a:r>
              <a:rPr lang="en-US" sz="2800" dirty="0" smtClean="0">
                <a:hlinkClick r:id="rId4"/>
              </a:rPr>
              <a:t>Sheku.dkamara@Limkokwing.edu.sl</a:t>
            </a:r>
            <a:endParaRPr lang="en-US" sz="2800" dirty="0" smtClean="0"/>
          </a:p>
          <a:p>
            <a:pPr algn="ctr"/>
            <a:r>
              <a:rPr lang="en-US" sz="2800" dirty="0" smtClean="0"/>
              <a:t>+23278455063/+23234281165</a:t>
            </a:r>
            <a:endParaRPr lang="en-US" sz="2800" dirty="0"/>
          </a:p>
        </p:txBody>
      </p:sp>
    </p:spTree>
    <p:extLst>
      <p:ext uri="{BB962C8B-B14F-4D97-AF65-F5344CB8AC3E}">
        <p14:creationId xmlns:p14="http://schemas.microsoft.com/office/powerpoint/2010/main" val="392171472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p:txBody>
          <a:bodyPr/>
          <a:lstStyle/>
          <a:p>
            <a:pPr algn="ctr"/>
            <a:r>
              <a:rPr lang="en-US" dirty="0" smtClean="0"/>
              <a:t>COUSER OUTLINE</a:t>
            </a:r>
            <a:endParaRPr lang="en-SL"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200" y="1474839"/>
            <a:ext cx="10515600" cy="4702124"/>
          </a:xfrm>
        </p:spPr>
        <p:txBody>
          <a:bodyPr/>
          <a:lstStyle/>
          <a:p>
            <a:pPr marL="0" indent="0">
              <a:buNone/>
            </a:pPr>
            <a:r>
              <a:rPr lang="en-US" dirty="0" smtClean="0"/>
              <a:t>1.Understanding </a:t>
            </a:r>
            <a:r>
              <a:rPr lang="en-US" dirty="0"/>
              <a:t>copyright and its importance</a:t>
            </a:r>
          </a:p>
          <a:p>
            <a:pPr marL="0" indent="0">
              <a:buNone/>
            </a:pPr>
            <a:r>
              <a:rPr lang="en-US" dirty="0" smtClean="0"/>
              <a:t>2.Copyright </a:t>
            </a:r>
            <a:r>
              <a:rPr lang="en-US" dirty="0"/>
              <a:t>in the digital age: software, databases, digital content, websites</a:t>
            </a:r>
          </a:p>
          <a:p>
            <a:pPr marL="0" indent="0">
              <a:buNone/>
            </a:pPr>
            <a:r>
              <a:rPr lang="en-US" dirty="0" smtClean="0"/>
              <a:t>3.Ownership </a:t>
            </a:r>
            <a:r>
              <a:rPr lang="en-US" dirty="0"/>
              <a:t>of software created by individuals, teams, and employers</a:t>
            </a:r>
          </a:p>
          <a:p>
            <a:pPr marL="0" indent="0">
              <a:buNone/>
            </a:pPr>
            <a:r>
              <a:rPr lang="en-US" dirty="0" smtClean="0"/>
              <a:t>4.Copyright </a:t>
            </a:r>
            <a:r>
              <a:rPr lang="en-US" dirty="0"/>
              <a:t>infringement and enforcement</a:t>
            </a:r>
          </a:p>
          <a:p>
            <a:pPr marL="0" indent="0">
              <a:buNone/>
            </a:pPr>
            <a:r>
              <a:rPr lang="en-US" dirty="0" smtClean="0"/>
              <a:t>5.Fair </a:t>
            </a:r>
            <a:r>
              <a:rPr lang="en-US" dirty="0"/>
              <a:t>use / fair dealing concepts in digital environments</a:t>
            </a:r>
          </a:p>
          <a:p>
            <a:pPr marL="0" indent="0">
              <a:buNone/>
            </a:pPr>
            <a:r>
              <a:rPr lang="en-US" dirty="0" smtClean="0"/>
              <a:t>6.Source </a:t>
            </a:r>
            <a:r>
              <a:rPr lang="en-US" dirty="0"/>
              <a:t>code and object code as copyrightable works</a:t>
            </a:r>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4016491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p:txBody>
          <a:bodyPr/>
          <a:lstStyle/>
          <a:p>
            <a:pPr algn="ctr"/>
            <a:r>
              <a:rPr lang="en-US" dirty="0"/>
              <a:t>COPYRIGHT</a:t>
            </a:r>
            <a:endParaRPr lang="en-SL"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200" y="1333462"/>
            <a:ext cx="10515600" cy="4843501"/>
          </a:xfrm>
        </p:spPr>
        <p:txBody>
          <a:bodyPr>
            <a:normAutofit/>
          </a:bodyPr>
          <a:lstStyle/>
          <a:p>
            <a:pPr>
              <a:buFont typeface="Wingdings" panose="05000000000000000000" pitchFamily="2" charset="2"/>
              <a:buChar char="v"/>
            </a:pPr>
            <a:r>
              <a:rPr lang="en-US" b="1" dirty="0"/>
              <a:t>Understanding copyright and their </a:t>
            </a:r>
            <a:r>
              <a:rPr lang="en-US" b="1" dirty="0" smtClean="0"/>
              <a:t>importance</a:t>
            </a:r>
          </a:p>
          <a:p>
            <a:pPr>
              <a:buFont typeface="Wingdings" panose="05000000000000000000" pitchFamily="2" charset="2"/>
              <a:buChar char="q"/>
            </a:pPr>
            <a:r>
              <a:rPr lang="en-US" b="1" dirty="0"/>
              <a:t>Definition of Copyright</a:t>
            </a:r>
            <a:r>
              <a:rPr lang="en-US" b="1" dirty="0" smtClean="0"/>
              <a:t>: </a:t>
            </a:r>
            <a:endParaRPr lang="en-US" dirty="0"/>
          </a:p>
          <a:p>
            <a:pPr>
              <a:buFont typeface="Wingdings" panose="05000000000000000000" pitchFamily="2" charset="2"/>
              <a:buChar char="Ø"/>
            </a:pPr>
            <a:r>
              <a:rPr lang="en-US" dirty="0" smtClean="0"/>
              <a:t>Copyright </a:t>
            </a:r>
            <a:r>
              <a:rPr lang="en-US" dirty="0"/>
              <a:t>is a legal right granted to creators of original works, granting them exclusive control over how their work is </a:t>
            </a:r>
            <a:r>
              <a:rPr lang="en-US" b="1" dirty="0"/>
              <a:t>used</a:t>
            </a:r>
            <a:r>
              <a:rPr lang="en-US" dirty="0"/>
              <a:t>, </a:t>
            </a:r>
            <a:r>
              <a:rPr lang="en-US" b="1" dirty="0"/>
              <a:t>copied</a:t>
            </a:r>
            <a:r>
              <a:rPr lang="en-US" dirty="0"/>
              <a:t>, </a:t>
            </a:r>
            <a:r>
              <a:rPr lang="en-US" b="1" dirty="0"/>
              <a:t>distributed</a:t>
            </a:r>
            <a:r>
              <a:rPr lang="en-US" dirty="0"/>
              <a:t>, and </a:t>
            </a:r>
            <a:r>
              <a:rPr lang="en-US" b="1" dirty="0"/>
              <a:t>adapted</a:t>
            </a:r>
            <a:r>
              <a:rPr lang="en-US" dirty="0"/>
              <a:t>. </a:t>
            </a:r>
            <a:endParaRPr lang="en-US" dirty="0" smtClean="0"/>
          </a:p>
          <a:p>
            <a:pPr>
              <a:buFont typeface="Wingdings" panose="05000000000000000000" pitchFamily="2" charset="2"/>
              <a:buChar char="Ø"/>
            </a:pPr>
            <a:r>
              <a:rPr lang="en-US" dirty="0"/>
              <a:t>Copyright protects original works of </a:t>
            </a:r>
            <a:r>
              <a:rPr lang="en-US" b="1" dirty="0"/>
              <a:t>authorship</a:t>
            </a:r>
            <a:r>
              <a:rPr lang="en-US" dirty="0"/>
              <a:t>, </a:t>
            </a:r>
            <a:r>
              <a:rPr lang="en-US" b="1" dirty="0"/>
              <a:t>encouraging</a:t>
            </a:r>
            <a:r>
              <a:rPr lang="en-US" dirty="0"/>
              <a:t> </a:t>
            </a:r>
            <a:r>
              <a:rPr lang="en-US" b="1" dirty="0"/>
              <a:t>creativity</a:t>
            </a:r>
            <a:r>
              <a:rPr lang="en-US" dirty="0"/>
              <a:t> and </a:t>
            </a:r>
            <a:r>
              <a:rPr lang="en-US" b="1" dirty="0"/>
              <a:t>innovation</a:t>
            </a:r>
            <a:r>
              <a:rPr lang="en-US" dirty="0"/>
              <a:t> while allowing creators to control their work's use. </a:t>
            </a:r>
          </a:p>
          <a:p>
            <a:pPr marL="0" indent="0">
              <a:buNone/>
            </a:pPr>
            <a:endParaRPr lang="en-US" dirty="0" smtClean="0"/>
          </a:p>
          <a:p>
            <a:pPr marL="0" indent="0">
              <a:buNone/>
            </a:pPr>
            <a:endParaRPr lang="en-US" dirty="0" smtClean="0"/>
          </a:p>
          <a:p>
            <a:pPr>
              <a:buFont typeface="Wingdings" panose="05000000000000000000" pitchFamily="2" charset="2"/>
              <a:buChar char="q"/>
            </a:pPr>
            <a:endParaRPr lang="en-US" b="1"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295925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Understanding copyright and their importance</a:t>
            </a:r>
          </a:p>
        </p:txBody>
      </p:sp>
      <p:sp>
        <p:nvSpPr>
          <p:cNvPr id="3" name="Content Placeholder 2"/>
          <p:cNvSpPr>
            <a:spLocks noGrp="1"/>
          </p:cNvSpPr>
          <p:nvPr>
            <p:ph idx="1"/>
          </p:nvPr>
        </p:nvSpPr>
        <p:spPr>
          <a:xfrm>
            <a:off x="838200" y="1422400"/>
            <a:ext cx="10515600" cy="4754563"/>
          </a:xfrm>
        </p:spPr>
        <p:txBody>
          <a:bodyPr>
            <a:normAutofit fontScale="92500"/>
          </a:bodyPr>
          <a:lstStyle/>
          <a:p>
            <a:pPr>
              <a:buFont typeface="Wingdings" panose="05000000000000000000" pitchFamily="2" charset="2"/>
              <a:buChar char="q"/>
            </a:pPr>
            <a:r>
              <a:rPr lang="en-US" b="1" dirty="0"/>
              <a:t>Importance:</a:t>
            </a:r>
          </a:p>
          <a:p>
            <a:pPr>
              <a:buFont typeface="Wingdings" panose="05000000000000000000" pitchFamily="2" charset="2"/>
              <a:buChar char="Ø"/>
            </a:pPr>
            <a:r>
              <a:rPr lang="en-US" b="1" dirty="0"/>
              <a:t>Copyright</a:t>
            </a:r>
            <a:r>
              <a:rPr lang="en-US" dirty="0"/>
              <a:t> is a form of intellectual property that provides creators with exclusive </a:t>
            </a:r>
            <a:r>
              <a:rPr lang="en-US" b="1" dirty="0"/>
              <a:t>rights to use</a:t>
            </a:r>
            <a:r>
              <a:rPr lang="en-US" dirty="0"/>
              <a:t>, </a:t>
            </a:r>
            <a:r>
              <a:rPr lang="en-US" b="1" dirty="0"/>
              <a:t>distribute</a:t>
            </a:r>
            <a:r>
              <a:rPr lang="en-US" dirty="0"/>
              <a:t>, and </a:t>
            </a:r>
            <a:r>
              <a:rPr lang="en-US" b="1" dirty="0"/>
              <a:t>reproduce</a:t>
            </a:r>
            <a:r>
              <a:rPr lang="en-US" dirty="0"/>
              <a:t> their </a:t>
            </a:r>
            <a:r>
              <a:rPr lang="en-US" b="1" dirty="0"/>
              <a:t>original works</a:t>
            </a:r>
            <a:r>
              <a:rPr lang="en-US" dirty="0"/>
              <a:t>. These works can include </a:t>
            </a:r>
            <a:r>
              <a:rPr lang="en-US" b="1" dirty="0"/>
              <a:t>literature</a:t>
            </a:r>
            <a:r>
              <a:rPr lang="en-US" dirty="0"/>
              <a:t>, </a:t>
            </a:r>
            <a:r>
              <a:rPr lang="en-US" b="1" dirty="0"/>
              <a:t>music</a:t>
            </a:r>
            <a:r>
              <a:rPr lang="en-US" dirty="0"/>
              <a:t>, </a:t>
            </a:r>
            <a:r>
              <a:rPr lang="en-US" b="1" dirty="0"/>
              <a:t>film</a:t>
            </a:r>
            <a:r>
              <a:rPr lang="en-US" dirty="0"/>
              <a:t>, </a:t>
            </a:r>
            <a:r>
              <a:rPr lang="en-US" b="1" dirty="0"/>
              <a:t>software</a:t>
            </a:r>
            <a:r>
              <a:rPr lang="en-US" dirty="0"/>
              <a:t>, </a:t>
            </a:r>
            <a:r>
              <a:rPr lang="en-US" b="1" dirty="0"/>
              <a:t>art</a:t>
            </a:r>
            <a:r>
              <a:rPr lang="en-US" dirty="0"/>
              <a:t>, and other forms of expression</a:t>
            </a:r>
            <a:r>
              <a:rPr lang="en-US" dirty="0" smtClean="0"/>
              <a:t>.</a:t>
            </a:r>
          </a:p>
          <a:p>
            <a:pPr>
              <a:buFont typeface="Wingdings" panose="05000000000000000000" pitchFamily="2" charset="2"/>
              <a:buChar char="Ø"/>
            </a:pPr>
            <a:r>
              <a:rPr lang="en-US" b="1" dirty="0"/>
              <a:t>Incentive for Creativity:</a:t>
            </a:r>
            <a:r>
              <a:rPr lang="en-US" dirty="0"/>
              <a:t> Copyright protects creators' rights, encouraging them to invest time and effort in creating original works. </a:t>
            </a:r>
            <a:endParaRPr lang="en-US" dirty="0" smtClean="0"/>
          </a:p>
          <a:p>
            <a:pPr>
              <a:buFont typeface="Wingdings" panose="05000000000000000000" pitchFamily="2" charset="2"/>
              <a:buChar char="Ø"/>
            </a:pPr>
            <a:r>
              <a:rPr lang="en-US" b="1" dirty="0"/>
              <a:t>Economic Benefits:</a:t>
            </a:r>
            <a:r>
              <a:rPr lang="en-US" dirty="0"/>
              <a:t>  Copyright has significant economic implications, as it allows creators to monetize their works and contributes to the economy through industries like publishing, film, software, and music.</a:t>
            </a:r>
          </a:p>
          <a:p>
            <a:pPr>
              <a:buFont typeface="Wingdings" panose="05000000000000000000" pitchFamily="2" charset="2"/>
              <a:buChar char="Ø"/>
            </a:pPr>
            <a:endParaRPr lang="en-US" dirty="0"/>
          </a:p>
          <a:p>
            <a:pPr>
              <a:buFont typeface="Wingdings" panose="05000000000000000000" pitchFamily="2" charset="2"/>
              <a:buChar char="Ø"/>
            </a:pPr>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659930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Understanding copyright and their importance</a:t>
            </a:r>
          </a:p>
        </p:txBody>
      </p:sp>
      <p:sp>
        <p:nvSpPr>
          <p:cNvPr id="3" name="Content Placeholder 2"/>
          <p:cNvSpPr>
            <a:spLocks noGrp="1"/>
          </p:cNvSpPr>
          <p:nvPr>
            <p:ph idx="1"/>
          </p:nvPr>
        </p:nvSpPr>
        <p:spPr>
          <a:xfrm>
            <a:off x="838200" y="1333462"/>
            <a:ext cx="10515600" cy="4843501"/>
          </a:xfrm>
        </p:spPr>
        <p:txBody>
          <a:bodyPr/>
          <a:lstStyle/>
          <a:p>
            <a:pPr>
              <a:buFont typeface="Wingdings" panose="05000000000000000000" pitchFamily="2" charset="2"/>
              <a:buChar char="Ø"/>
            </a:pPr>
            <a:r>
              <a:rPr lang="en-US" b="1" dirty="0"/>
              <a:t>Protection of Intellectual Property:</a:t>
            </a:r>
            <a:r>
              <a:rPr lang="en-US" dirty="0"/>
              <a:t> Copyright safeguards the intellectual property of creators, preventing unauthorized use and exploitation. </a:t>
            </a:r>
            <a:endParaRPr lang="en-US" dirty="0" smtClean="0"/>
          </a:p>
          <a:p>
            <a:pPr>
              <a:buFont typeface="Wingdings" panose="05000000000000000000" pitchFamily="2" charset="2"/>
              <a:buChar char="Ø"/>
            </a:pPr>
            <a:r>
              <a:rPr lang="en-US" b="1" dirty="0"/>
              <a:t>Protection of Creators</a:t>
            </a:r>
            <a:r>
              <a:rPr lang="en-US" dirty="0"/>
              <a:t>: Copyright ensures that creators are compensated for their work, which incentivizes creativity and innovation</a:t>
            </a:r>
            <a:r>
              <a:rPr lang="en-US" dirty="0" smtClean="0"/>
              <a:t>.</a:t>
            </a:r>
          </a:p>
          <a:p>
            <a:pPr>
              <a:buFont typeface="Wingdings" panose="05000000000000000000" pitchFamily="2" charset="2"/>
              <a:buChar char="Ø"/>
            </a:pPr>
            <a:r>
              <a:rPr lang="en-US" b="1" dirty="0"/>
              <a:t>Cultural Preservation</a:t>
            </a:r>
            <a:r>
              <a:rPr lang="en-US" dirty="0"/>
              <a:t>: By protecting creative works, copyright helps preserve cultural heritage and ensures that it can be passed on to future generations.</a:t>
            </a:r>
          </a:p>
          <a:p>
            <a:pPr marL="0" indent="0">
              <a:buNone/>
            </a:pPr>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3495160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Understanding copyright and their importance</a:t>
            </a:r>
          </a:p>
        </p:txBody>
      </p:sp>
      <p:sp>
        <p:nvSpPr>
          <p:cNvPr id="3" name="Content Placeholder 2"/>
          <p:cNvSpPr>
            <a:spLocks noGrp="1"/>
          </p:cNvSpPr>
          <p:nvPr>
            <p:ph idx="1"/>
          </p:nvPr>
        </p:nvSpPr>
        <p:spPr>
          <a:xfrm>
            <a:off x="838200" y="1435100"/>
            <a:ext cx="10515600" cy="4741863"/>
          </a:xfrm>
        </p:spPr>
        <p:txBody>
          <a:bodyPr>
            <a:normAutofit/>
          </a:bodyPr>
          <a:lstStyle/>
          <a:p>
            <a:pPr>
              <a:buFont typeface="Wingdings" panose="05000000000000000000" pitchFamily="2" charset="2"/>
              <a:buChar char="q"/>
            </a:pPr>
            <a:r>
              <a:rPr lang="en-US" b="1" dirty="0"/>
              <a:t>Rights Granted by Copyright:</a:t>
            </a:r>
            <a:endParaRPr lang="en-US" dirty="0"/>
          </a:p>
          <a:p>
            <a:pPr>
              <a:buFont typeface="Wingdings" panose="05000000000000000000" pitchFamily="2" charset="2"/>
              <a:buChar char="Ø"/>
            </a:pPr>
            <a:r>
              <a:rPr lang="en-US" b="1" dirty="0"/>
              <a:t>Reproduction Right</a:t>
            </a:r>
            <a:r>
              <a:rPr lang="en-US" dirty="0"/>
              <a:t>: The right to make copies of the work.</a:t>
            </a:r>
          </a:p>
          <a:p>
            <a:pPr>
              <a:buFont typeface="Wingdings" panose="05000000000000000000" pitchFamily="2" charset="2"/>
              <a:buChar char="Ø"/>
            </a:pPr>
            <a:r>
              <a:rPr lang="en-US" b="1" dirty="0"/>
              <a:t>Distribution Right</a:t>
            </a:r>
            <a:r>
              <a:rPr lang="en-US" dirty="0"/>
              <a:t>: The right to sell or distribute copies of the work to the public.</a:t>
            </a:r>
          </a:p>
          <a:p>
            <a:pPr>
              <a:buFont typeface="Wingdings" panose="05000000000000000000" pitchFamily="2" charset="2"/>
              <a:buChar char="Ø"/>
            </a:pPr>
            <a:r>
              <a:rPr lang="en-US" b="1" dirty="0"/>
              <a:t>Modification Right (Derivative Works)</a:t>
            </a:r>
            <a:r>
              <a:rPr lang="en-US" dirty="0"/>
              <a:t>: The right to create new works based on the original work.</a:t>
            </a:r>
          </a:p>
          <a:p>
            <a:pPr>
              <a:buFont typeface="Wingdings" panose="05000000000000000000" pitchFamily="2" charset="2"/>
              <a:buChar char="Ø"/>
            </a:pPr>
            <a:r>
              <a:rPr lang="en-US" b="1" dirty="0"/>
              <a:t>Public Performance Right</a:t>
            </a:r>
            <a:r>
              <a:rPr lang="en-US" dirty="0"/>
              <a:t>: The right to perform the work publicly, such as a play or a musical composition.</a:t>
            </a:r>
          </a:p>
          <a:p>
            <a:pPr>
              <a:buFont typeface="Wingdings" panose="05000000000000000000" pitchFamily="2" charset="2"/>
              <a:buChar char="Ø"/>
            </a:pPr>
            <a:r>
              <a:rPr lang="en-US" b="1" dirty="0"/>
              <a:t>Public Display Right</a:t>
            </a:r>
            <a:r>
              <a:rPr lang="en-US" dirty="0"/>
              <a:t>: The right to display the work publicly, such as artwork or images.</a:t>
            </a:r>
          </a:p>
          <a:p>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3442348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Understanding copyright and their importance</a:t>
            </a:r>
          </a:p>
        </p:txBody>
      </p:sp>
      <p:sp>
        <p:nvSpPr>
          <p:cNvPr id="3" name="Content Placeholder 2"/>
          <p:cNvSpPr>
            <a:spLocks noGrp="1"/>
          </p:cNvSpPr>
          <p:nvPr>
            <p:ph idx="1"/>
          </p:nvPr>
        </p:nvSpPr>
        <p:spPr>
          <a:xfrm>
            <a:off x="838200" y="1333462"/>
            <a:ext cx="10515600" cy="4843501"/>
          </a:xfrm>
        </p:spPr>
        <p:txBody>
          <a:bodyPr/>
          <a:lstStyle/>
          <a:p>
            <a:pPr>
              <a:buFont typeface="Wingdings" panose="05000000000000000000" pitchFamily="2" charset="2"/>
              <a:buChar char="q"/>
            </a:pPr>
            <a:r>
              <a:rPr lang="en-US" b="1" dirty="0"/>
              <a:t>Duration of Copyright:</a:t>
            </a:r>
            <a:endParaRPr lang="en-US" dirty="0"/>
          </a:p>
          <a:p>
            <a:pPr>
              <a:buFont typeface="Wingdings" panose="05000000000000000000" pitchFamily="2" charset="2"/>
              <a:buChar char="Ø"/>
            </a:pPr>
            <a:r>
              <a:rPr lang="en-US" dirty="0" smtClean="0"/>
              <a:t>Copyright </a:t>
            </a:r>
            <a:r>
              <a:rPr lang="en-US" dirty="0"/>
              <a:t>typically lasts for the life of the author plus </a:t>
            </a:r>
            <a:r>
              <a:rPr lang="en-US" b="1" dirty="0"/>
              <a:t>70 years </a:t>
            </a:r>
            <a:r>
              <a:rPr lang="en-US" dirty="0"/>
              <a:t>after the author’s death. For corporate or anonymously created works, it lasts for </a:t>
            </a:r>
            <a:r>
              <a:rPr lang="en-US" b="1" dirty="0"/>
              <a:t>95 years </a:t>
            </a:r>
            <a:r>
              <a:rPr lang="en-US" dirty="0"/>
              <a:t>from publication or </a:t>
            </a:r>
            <a:r>
              <a:rPr lang="en-US" b="1" dirty="0"/>
              <a:t>120 years from creation</a:t>
            </a:r>
            <a:r>
              <a:rPr lang="en-US" dirty="0"/>
              <a:t>, whichever is shorter</a:t>
            </a:r>
            <a:r>
              <a:rPr lang="en-US" dirty="0" smtClean="0"/>
              <a:t>.</a:t>
            </a:r>
          </a:p>
          <a:p>
            <a:pPr marL="0" indent="0">
              <a:buNone/>
            </a:pPr>
            <a:endParaRPr lang="en-US" b="1" dirty="0" smtClean="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970011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 the digital age: software, digital content</a:t>
            </a:r>
          </a:p>
        </p:txBody>
      </p:sp>
      <p:sp>
        <p:nvSpPr>
          <p:cNvPr id="3" name="Content Placeholder 2"/>
          <p:cNvSpPr>
            <a:spLocks noGrp="1"/>
          </p:cNvSpPr>
          <p:nvPr>
            <p:ph idx="1"/>
          </p:nvPr>
        </p:nvSpPr>
        <p:spPr>
          <a:xfrm>
            <a:off x="838200" y="1333462"/>
            <a:ext cx="10515600" cy="4927637"/>
          </a:xfrm>
        </p:spPr>
        <p:txBody>
          <a:bodyPr>
            <a:normAutofit/>
          </a:bodyPr>
          <a:lstStyle/>
          <a:p>
            <a:pPr>
              <a:buFont typeface="Wingdings" panose="05000000000000000000" pitchFamily="2" charset="2"/>
              <a:buChar char="Ø"/>
            </a:pPr>
            <a:r>
              <a:rPr lang="en-US" dirty="0"/>
              <a:t>In today’s digital landscape, where information flows freely and boundaries between </a:t>
            </a:r>
            <a:r>
              <a:rPr lang="en-US" b="1" dirty="0"/>
              <a:t>original content </a:t>
            </a:r>
            <a:r>
              <a:rPr lang="en-US" dirty="0"/>
              <a:t>and </a:t>
            </a:r>
            <a:r>
              <a:rPr lang="en-US" b="1" dirty="0"/>
              <a:t>derivative works blur</a:t>
            </a:r>
            <a:r>
              <a:rPr lang="en-US" dirty="0"/>
              <a:t>, copyright protection has become more critical than ever, especially for researchers</a:t>
            </a:r>
            <a:r>
              <a:rPr lang="en-US" dirty="0" smtClean="0"/>
              <a:t>.</a:t>
            </a:r>
          </a:p>
          <a:p>
            <a:pPr>
              <a:buFont typeface="Wingdings" panose="05000000000000000000" pitchFamily="2" charset="2"/>
              <a:buChar char="Ø"/>
            </a:pPr>
            <a:r>
              <a:rPr lang="en-US" b="1" dirty="0"/>
              <a:t>Digital Content</a:t>
            </a:r>
            <a:r>
              <a:rPr lang="en-US" dirty="0"/>
              <a:t>: Includes </a:t>
            </a:r>
            <a:r>
              <a:rPr lang="en-US" b="1" dirty="0"/>
              <a:t>e-books</a:t>
            </a:r>
            <a:r>
              <a:rPr lang="en-US" dirty="0"/>
              <a:t>, </a:t>
            </a:r>
            <a:r>
              <a:rPr lang="en-US" b="1" dirty="0"/>
              <a:t>online articles</a:t>
            </a:r>
            <a:r>
              <a:rPr lang="en-US" dirty="0"/>
              <a:t>, </a:t>
            </a:r>
            <a:r>
              <a:rPr lang="en-US" b="1" dirty="0"/>
              <a:t>music files</a:t>
            </a:r>
            <a:r>
              <a:rPr lang="en-US" dirty="0"/>
              <a:t>, </a:t>
            </a:r>
            <a:r>
              <a:rPr lang="en-US" b="1" dirty="0"/>
              <a:t>videos</a:t>
            </a:r>
            <a:r>
              <a:rPr lang="en-US" dirty="0"/>
              <a:t>, </a:t>
            </a:r>
            <a:r>
              <a:rPr lang="en-US" b="1" dirty="0"/>
              <a:t>software</a:t>
            </a:r>
            <a:r>
              <a:rPr lang="en-US" dirty="0"/>
              <a:t>, and other materials available in digital format. Copyright protects these digital works similarly to traditional formats. </a:t>
            </a:r>
            <a:endParaRPr lang="en-US" dirty="0" smtClean="0"/>
          </a:p>
          <a:p>
            <a:pPr>
              <a:buFont typeface="Wingdings" panose="05000000000000000000" pitchFamily="2" charset="2"/>
              <a:buChar char="Ø"/>
            </a:pPr>
            <a:r>
              <a:rPr lang="en-US" b="1" dirty="0"/>
              <a:t>Software </a:t>
            </a:r>
            <a:r>
              <a:rPr lang="en-US" b="1" smtClean="0"/>
              <a:t>Copyright:</a:t>
            </a:r>
            <a:r>
              <a:rPr lang="en-US" dirty="0"/>
              <a:t> </a:t>
            </a:r>
            <a:r>
              <a:rPr lang="en-US" smtClean="0"/>
              <a:t>Software </a:t>
            </a:r>
            <a:r>
              <a:rPr lang="en-US" dirty="0"/>
              <a:t>is protected under copyright law, with the copyright owner having exclusive rights to use, distribute, and modify the software. </a:t>
            </a:r>
          </a:p>
          <a:p>
            <a:pPr marL="0" indent="0">
              <a:buNone/>
            </a:pPr>
            <a:endParaRPr lang="en-US" dirty="0" smtClean="0"/>
          </a:p>
          <a:p>
            <a:pPr>
              <a:buFont typeface="Wingdings" panose="05000000000000000000" pitchFamily="2" charset="2"/>
              <a:buChar char="Ø"/>
            </a:pPr>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3271665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117244"/>
          </a:xfrm>
        </p:spPr>
        <p:txBody>
          <a:bodyPr>
            <a:normAutofit/>
          </a:bodyPr>
          <a:lstStyle/>
          <a:p>
            <a:r>
              <a:rPr lang="en-US" dirty="0"/>
              <a:t>Copyright in the digital age: software, digital content</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b="1" dirty="0"/>
              <a:t>Challenges in the Digital Age</a:t>
            </a:r>
          </a:p>
          <a:p>
            <a:pPr>
              <a:buFont typeface="Wingdings" panose="05000000000000000000" pitchFamily="2" charset="2"/>
              <a:buChar char="Ø"/>
            </a:pPr>
            <a:r>
              <a:rPr lang="en-US" dirty="0"/>
              <a:t>The digital revolution has presented both opportunities and challenges for researchers. While online platforms offer unprecedented access to vast </a:t>
            </a:r>
            <a:r>
              <a:rPr lang="en-US" dirty="0" smtClean="0"/>
              <a:t>sources </a:t>
            </a:r>
            <a:r>
              <a:rPr lang="en-US" dirty="0"/>
              <a:t>of knowledge and facilitate collaboration on a global scale, they also expose researchers to potential copyright infringements. </a:t>
            </a:r>
            <a:endParaRPr lang="en-US" dirty="0" smtClean="0"/>
          </a:p>
          <a:p>
            <a:pPr>
              <a:buFont typeface="Wingdings" panose="05000000000000000000" pitchFamily="2" charset="2"/>
              <a:buChar char="Ø"/>
            </a:pPr>
            <a:r>
              <a:rPr lang="en-US" dirty="0" smtClean="0"/>
              <a:t>The </a:t>
            </a:r>
            <a:r>
              <a:rPr lang="en-US" dirty="0"/>
              <a:t>ease of copying and sharing digital content increases the risk of </a:t>
            </a:r>
            <a:r>
              <a:rPr lang="en-US" b="1" dirty="0"/>
              <a:t>unauthorised use</a:t>
            </a:r>
            <a:r>
              <a:rPr lang="en-US" dirty="0"/>
              <a:t>, making it imperative for researchers to adopt proactive measures to protect their intellectual property.</a:t>
            </a:r>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360222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 the digital age: software, digital content</a:t>
            </a:r>
          </a:p>
        </p:txBody>
      </p:sp>
      <p:sp>
        <p:nvSpPr>
          <p:cNvPr id="3" name="Content Placeholder 2"/>
          <p:cNvSpPr>
            <a:spLocks noGrp="1"/>
          </p:cNvSpPr>
          <p:nvPr>
            <p:ph idx="1"/>
          </p:nvPr>
        </p:nvSpPr>
        <p:spPr>
          <a:xfrm>
            <a:off x="838200" y="1333462"/>
            <a:ext cx="10515600" cy="4843501"/>
          </a:xfrm>
        </p:spPr>
        <p:txBody>
          <a:bodyPr/>
          <a:lstStyle/>
          <a:p>
            <a:pPr>
              <a:buFont typeface="Wingdings" panose="05000000000000000000" pitchFamily="2" charset="2"/>
              <a:buChar char="Ø"/>
            </a:pPr>
            <a:r>
              <a:rPr lang="en-US" dirty="0"/>
              <a:t>The internet and digital technologies have made it easier to </a:t>
            </a:r>
            <a:r>
              <a:rPr lang="en-US" b="1" dirty="0"/>
              <a:t>copy</a:t>
            </a:r>
            <a:r>
              <a:rPr lang="en-US" dirty="0"/>
              <a:t>, </a:t>
            </a:r>
            <a:r>
              <a:rPr lang="en-US" b="1" dirty="0"/>
              <a:t>share</a:t>
            </a:r>
            <a:r>
              <a:rPr lang="en-US" dirty="0"/>
              <a:t>, and </a:t>
            </a:r>
            <a:r>
              <a:rPr lang="en-US" b="1" dirty="0"/>
              <a:t>distribute copyrighted works </a:t>
            </a:r>
            <a:r>
              <a:rPr lang="en-US" dirty="0"/>
              <a:t>without authorization. This ease of reproduction and distribution poses significant challenges to copyright enforcement</a:t>
            </a:r>
            <a:r>
              <a:rPr lang="en-US" dirty="0" smtClean="0"/>
              <a:t>.</a:t>
            </a:r>
          </a:p>
          <a:p>
            <a:pPr>
              <a:buFont typeface="Wingdings" panose="05000000000000000000" pitchFamily="2" charset="2"/>
              <a:buChar char="q"/>
            </a:pPr>
            <a:r>
              <a:rPr lang="en-US" b="1" dirty="0"/>
              <a:t>Strategies for Copyright Protection</a:t>
            </a:r>
          </a:p>
          <a:p>
            <a:pPr>
              <a:buFont typeface="Wingdings" panose="05000000000000000000" pitchFamily="2" charset="2"/>
              <a:buChar char="Ø"/>
            </a:pPr>
            <a:r>
              <a:rPr lang="en-US" b="1" dirty="0"/>
              <a:t>Understand Copyright Laws</a:t>
            </a:r>
            <a:r>
              <a:rPr lang="en-US" dirty="0"/>
              <a:t>: </a:t>
            </a:r>
            <a:r>
              <a:rPr lang="en-US" dirty="0" err="1"/>
              <a:t>Familiarise</a:t>
            </a:r>
            <a:r>
              <a:rPr lang="en-US" dirty="0"/>
              <a:t> yourself with copyright laws and regulations in your jurisdiction to understand your rights and obligations as a researcher. Stay informed about updates and developments in copyright legislation to adapt your practices accordingly.</a:t>
            </a:r>
          </a:p>
          <a:p>
            <a:pPr marL="0" indent="0">
              <a:buNone/>
            </a:pPr>
            <a:endParaRPr lang="en-US" dirty="0" smtClean="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1415098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 the digital age: software, digital content</a:t>
            </a:r>
          </a:p>
        </p:txBody>
      </p:sp>
      <p:sp>
        <p:nvSpPr>
          <p:cNvPr id="3" name="Content Placeholder 2"/>
          <p:cNvSpPr>
            <a:spLocks noGrp="1"/>
          </p:cNvSpPr>
          <p:nvPr>
            <p:ph idx="1"/>
          </p:nvPr>
        </p:nvSpPr>
        <p:spPr>
          <a:xfrm>
            <a:off x="838200" y="1333462"/>
            <a:ext cx="10515600" cy="4843501"/>
          </a:xfrm>
        </p:spPr>
        <p:txBody>
          <a:bodyPr>
            <a:normAutofit/>
          </a:bodyPr>
          <a:lstStyle/>
          <a:p>
            <a:pPr>
              <a:buFont typeface="Wingdings" panose="05000000000000000000" pitchFamily="2" charset="2"/>
              <a:buChar char="Ø"/>
            </a:pPr>
            <a:r>
              <a:rPr lang="en-US" b="1" dirty="0"/>
              <a:t>Include Copyright Notices</a:t>
            </a:r>
            <a:r>
              <a:rPr lang="en-US" dirty="0"/>
              <a:t>: Incorporate copyright notices prominently in your publications, presentations, and digital content to assert your ownership rights and deter unauthorised use. Clearly communicate the terms of use and attribution requirements to potential users.</a:t>
            </a:r>
          </a:p>
          <a:p>
            <a:pPr>
              <a:buFont typeface="Wingdings" panose="05000000000000000000" pitchFamily="2" charset="2"/>
              <a:buChar char="Ø"/>
            </a:pPr>
            <a:r>
              <a:rPr lang="en-US" b="1" dirty="0" smtClean="0"/>
              <a:t>Use </a:t>
            </a:r>
            <a:r>
              <a:rPr lang="en-US" b="1" dirty="0"/>
              <a:t>Creative Commons </a:t>
            </a:r>
            <a:r>
              <a:rPr lang="en-US" b="1" dirty="0" smtClean="0"/>
              <a:t>Licenses</a:t>
            </a:r>
            <a:r>
              <a:rPr lang="en-US" dirty="0"/>
              <a:t>: Consider licensing your work under Creative Commons (CC) </a:t>
            </a:r>
            <a:r>
              <a:rPr lang="en-US" dirty="0" err="1"/>
              <a:t>licences</a:t>
            </a:r>
            <a:r>
              <a:rPr lang="en-US" dirty="0"/>
              <a:t>, which enable you to retain copyright while granting others permission to use your work under specified conditions. CC </a:t>
            </a:r>
            <a:r>
              <a:rPr lang="en-US" dirty="0" err="1"/>
              <a:t>licences</a:t>
            </a:r>
            <a:r>
              <a:rPr lang="en-US" dirty="0"/>
              <a:t> offer flexibility in sharing your work while maintaining control over its usage.</a:t>
            </a:r>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502814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 the digital age: software, digital content</a:t>
            </a:r>
          </a:p>
        </p:txBody>
      </p:sp>
      <p:sp>
        <p:nvSpPr>
          <p:cNvPr id="3" name="Content Placeholder 2"/>
          <p:cNvSpPr>
            <a:spLocks noGrp="1"/>
          </p:cNvSpPr>
          <p:nvPr>
            <p:ph idx="1"/>
          </p:nvPr>
        </p:nvSpPr>
        <p:spPr>
          <a:xfrm>
            <a:off x="838200" y="1333462"/>
            <a:ext cx="10515600" cy="4843501"/>
          </a:xfrm>
        </p:spPr>
        <p:txBody>
          <a:bodyPr>
            <a:normAutofit/>
          </a:bodyPr>
          <a:lstStyle/>
          <a:p>
            <a:pPr>
              <a:buFont typeface="Wingdings" panose="05000000000000000000" pitchFamily="2" charset="2"/>
              <a:buChar char="Ø"/>
            </a:pPr>
            <a:r>
              <a:rPr lang="en-US" b="1" dirty="0"/>
              <a:t>Monitor and Enforce Copyright Compliance</a:t>
            </a:r>
            <a:r>
              <a:rPr lang="en-US" dirty="0"/>
              <a:t>: Regularly monitor online platforms, academic repositories, and scholarly databases for instances of copyright infringement involving your work. Take prompt action to enforce your copyright by issuing takedown notices, </a:t>
            </a:r>
            <a:r>
              <a:rPr lang="en-US" b="1" dirty="0"/>
              <a:t>cease-and-desist letters</a:t>
            </a:r>
            <a:r>
              <a:rPr lang="en-US" dirty="0"/>
              <a:t>, or pursuing legal remedies as necessary.</a:t>
            </a:r>
          </a:p>
          <a:p>
            <a:pPr>
              <a:buFont typeface="Wingdings" panose="05000000000000000000" pitchFamily="2" charset="2"/>
              <a:buChar char="Ø"/>
            </a:pPr>
            <a:r>
              <a:rPr lang="en-US" b="1" dirty="0"/>
              <a:t>Collaborate Responsibly</a:t>
            </a:r>
            <a:r>
              <a:rPr lang="en-US" dirty="0"/>
              <a:t>: When collaborating with other researchers or institutions, establish clear agreements regarding copyright ownership, attribution, and usage rights from the outset. Clarify expectations and responsibilities to prevent disputes over intellectual property later on.</a:t>
            </a:r>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340819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infringement and enforcement</a:t>
            </a:r>
          </a:p>
        </p:txBody>
      </p:sp>
      <p:sp>
        <p:nvSpPr>
          <p:cNvPr id="3" name="Content Placeholder 2"/>
          <p:cNvSpPr>
            <a:spLocks noGrp="1"/>
          </p:cNvSpPr>
          <p:nvPr>
            <p:ph idx="1"/>
          </p:nvPr>
        </p:nvSpPr>
        <p:spPr>
          <a:xfrm>
            <a:off x="838200" y="1422400"/>
            <a:ext cx="10515600" cy="4754563"/>
          </a:xfrm>
        </p:spPr>
        <p:txBody>
          <a:bodyPr/>
          <a:lstStyle/>
          <a:p>
            <a:pPr>
              <a:buFont typeface="Wingdings" panose="05000000000000000000" pitchFamily="2" charset="2"/>
              <a:buChar char="v"/>
            </a:pPr>
            <a:r>
              <a:rPr lang="en-US" b="1" dirty="0" smtClean="0"/>
              <a:t>What </a:t>
            </a:r>
            <a:r>
              <a:rPr lang="en-US" b="1" dirty="0"/>
              <a:t>is Copyright Infringement?</a:t>
            </a:r>
          </a:p>
          <a:p>
            <a:pPr>
              <a:buFont typeface="Wingdings" panose="05000000000000000000" pitchFamily="2" charset="2"/>
              <a:buChar char="q"/>
            </a:pPr>
            <a:r>
              <a:rPr lang="en-US" b="1" dirty="0" err="1" smtClean="0"/>
              <a:t>Definition:Copyright</a:t>
            </a:r>
            <a:r>
              <a:rPr lang="en-US" b="1" dirty="0" smtClean="0"/>
              <a:t> </a:t>
            </a:r>
            <a:r>
              <a:rPr lang="en-US" b="1" dirty="0"/>
              <a:t>Infringement</a:t>
            </a:r>
            <a:r>
              <a:rPr lang="en-US" dirty="0"/>
              <a:t> occurs when an individual or entity uses, reproduces, distributes, displays, or performs a copyrighted work without the authorization of the copyright holder or without a legal exemption such as fair use.</a:t>
            </a:r>
          </a:p>
          <a:p>
            <a:pPr>
              <a:buFont typeface="Wingdings" panose="05000000000000000000" pitchFamily="2" charset="2"/>
              <a:buChar char="q"/>
            </a:pPr>
            <a:r>
              <a:rPr lang="en-US" b="1" dirty="0"/>
              <a:t>Types of Copyright Infringement:</a:t>
            </a:r>
            <a:endParaRPr lang="en-US" dirty="0"/>
          </a:p>
          <a:p>
            <a:pPr>
              <a:buFont typeface="Wingdings" panose="05000000000000000000" pitchFamily="2" charset="2"/>
              <a:buChar char="Ø"/>
            </a:pPr>
            <a:r>
              <a:rPr lang="en-US" b="1" dirty="0"/>
              <a:t>Direct Infringement:</a:t>
            </a:r>
            <a:r>
              <a:rPr lang="en-US" dirty="0"/>
              <a:t> Occurs when someone directly copies or uses a copyrighted work without permission. This is the most straightforward form of infringement and does not require the infringer to have intent or knowledge that they are infringing.</a:t>
            </a:r>
          </a:p>
          <a:p>
            <a:pPr>
              <a:buFont typeface="Wingdings" panose="05000000000000000000" pitchFamily="2" charset="2"/>
              <a:buChar char="Ø"/>
            </a:pPr>
            <a:endParaRPr lang="en-US" b="1"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3682181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infringement and enforcement</a:t>
            </a:r>
          </a:p>
        </p:txBody>
      </p:sp>
      <p:sp>
        <p:nvSpPr>
          <p:cNvPr id="3" name="Content Placeholder 2"/>
          <p:cNvSpPr>
            <a:spLocks noGrp="1"/>
          </p:cNvSpPr>
          <p:nvPr>
            <p:ph idx="1"/>
          </p:nvPr>
        </p:nvSpPr>
        <p:spPr>
          <a:xfrm>
            <a:off x="838200" y="1333462"/>
            <a:ext cx="10515600" cy="4843501"/>
          </a:xfrm>
        </p:spPr>
        <p:txBody>
          <a:bodyPr/>
          <a:lstStyle/>
          <a:p>
            <a:pPr>
              <a:buFont typeface="Wingdings" panose="05000000000000000000" pitchFamily="2" charset="2"/>
              <a:buChar char="Ø"/>
            </a:pPr>
            <a:r>
              <a:rPr lang="en-US" b="1" dirty="0"/>
              <a:t>Contributory Infringement:</a:t>
            </a:r>
            <a:r>
              <a:rPr lang="en-US" dirty="0"/>
              <a:t> Occurs when a person or entity knowingly contributes to the infringement of another’s copyright, such as by providing the means or tools to infringe (e.g., a website facilitating illegal downloads</a:t>
            </a:r>
            <a:r>
              <a:rPr lang="en-US" dirty="0" smtClean="0"/>
              <a:t>).</a:t>
            </a:r>
          </a:p>
          <a:p>
            <a:pPr>
              <a:buFont typeface="Wingdings" panose="05000000000000000000" pitchFamily="2" charset="2"/>
              <a:buChar char="Ø"/>
            </a:pPr>
            <a:r>
              <a:rPr lang="en-US" b="1" dirty="0"/>
              <a:t>Vicarious Infringement:</a:t>
            </a:r>
            <a:r>
              <a:rPr lang="en-US" dirty="0"/>
              <a:t> Occurs when a person or entity has the right and ability to control the infringer’s activity and receives a direct financial benefit from the infringement</a:t>
            </a:r>
            <a:r>
              <a:rPr lang="en-US" dirty="0" smtClean="0"/>
              <a:t>.</a:t>
            </a:r>
          </a:p>
          <a:p>
            <a:pPr>
              <a:buFont typeface="Wingdings" panose="05000000000000000000" pitchFamily="2" charset="2"/>
              <a:buChar char="Ø"/>
            </a:pPr>
            <a:r>
              <a:rPr lang="en-US" b="1" dirty="0"/>
              <a:t>Secondary Infringement:</a:t>
            </a:r>
            <a:r>
              <a:rPr lang="en-US" dirty="0"/>
              <a:t> Refers to acts like importing, distributing, or selling infringing copies, even if the distributor did not create the copies themselves.</a:t>
            </a:r>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4161135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infringement and enforcement</a:t>
            </a:r>
          </a:p>
        </p:txBody>
      </p:sp>
      <p:sp>
        <p:nvSpPr>
          <p:cNvPr id="3" name="Content Placeholder 2"/>
          <p:cNvSpPr>
            <a:spLocks noGrp="1"/>
          </p:cNvSpPr>
          <p:nvPr>
            <p:ph idx="1"/>
          </p:nvPr>
        </p:nvSpPr>
        <p:spPr>
          <a:xfrm>
            <a:off x="838200" y="1415846"/>
            <a:ext cx="10515600" cy="4940504"/>
          </a:xfrm>
        </p:spPr>
        <p:txBody>
          <a:bodyPr>
            <a:normAutofit/>
          </a:bodyPr>
          <a:lstStyle/>
          <a:p>
            <a:pPr>
              <a:buFont typeface="Wingdings" panose="05000000000000000000" pitchFamily="2" charset="2"/>
              <a:buChar char="q"/>
            </a:pPr>
            <a:r>
              <a:rPr lang="en-US" b="1" dirty="0"/>
              <a:t>Examples of Copyright Infringement:</a:t>
            </a:r>
            <a:endParaRPr lang="en-US" dirty="0"/>
          </a:p>
          <a:p>
            <a:pPr>
              <a:buFont typeface="Wingdings" panose="05000000000000000000" pitchFamily="2" charset="2"/>
              <a:buChar char="ü"/>
            </a:pPr>
            <a:r>
              <a:rPr lang="en-US" b="1" dirty="0"/>
              <a:t>Unauthorized Copying:</a:t>
            </a:r>
            <a:r>
              <a:rPr lang="en-US" dirty="0"/>
              <a:t> Making and distributing copies of books, software, music, movies, or artwork without permission.</a:t>
            </a:r>
          </a:p>
          <a:p>
            <a:pPr>
              <a:buFont typeface="Wingdings" panose="05000000000000000000" pitchFamily="2" charset="2"/>
              <a:buChar char="ü"/>
            </a:pPr>
            <a:r>
              <a:rPr lang="en-US" b="1" dirty="0"/>
              <a:t>Plagiarism:</a:t>
            </a:r>
            <a:r>
              <a:rPr lang="en-US" dirty="0"/>
              <a:t> Copying someone else’s work and presenting it as your own without crediting the original author</a:t>
            </a:r>
            <a:r>
              <a:rPr lang="en-US" dirty="0" smtClean="0"/>
              <a:t>.</a:t>
            </a:r>
          </a:p>
          <a:p>
            <a:pPr>
              <a:buFont typeface="Wingdings" panose="05000000000000000000" pitchFamily="2" charset="2"/>
              <a:buChar char="ü"/>
            </a:pPr>
            <a:r>
              <a:rPr lang="en-US" b="1" dirty="0"/>
              <a:t>Piracy:</a:t>
            </a:r>
            <a:r>
              <a:rPr lang="en-US" dirty="0"/>
              <a:t> Distributing copyrighted digital content, such as movies, music, software, or video games, without authorization, often over the internet</a:t>
            </a:r>
            <a:r>
              <a:rPr lang="en-US" dirty="0" smtClean="0"/>
              <a:t>.</a:t>
            </a:r>
          </a:p>
          <a:p>
            <a:pPr>
              <a:buFont typeface="Wingdings" panose="05000000000000000000" pitchFamily="2" charset="2"/>
              <a:buChar char="ü"/>
            </a:pPr>
            <a:r>
              <a:rPr lang="en-US" b="1" dirty="0"/>
              <a:t>Unlicensed Streaming:</a:t>
            </a:r>
            <a:r>
              <a:rPr lang="en-US" dirty="0"/>
              <a:t> Broadcasting or streaming copyrighted material without the necessary permissions, commonly seen in unauthorized streaming sites.</a:t>
            </a:r>
            <a:endParaRPr lang="en-US" dirty="0" smtClean="0"/>
          </a:p>
          <a:p>
            <a:pPr>
              <a:buFont typeface="Wingdings" panose="05000000000000000000" pitchFamily="2" charset="2"/>
              <a:buChar char="Ø"/>
            </a:pPr>
            <a:endParaRPr lang="en-US" dirty="0"/>
          </a:p>
          <a:p>
            <a:pPr marL="0" indent="0">
              <a:buNone/>
            </a:pPr>
            <a:endParaRPr lang="en-US" b="1"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1345767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infringement and enforcement</a:t>
            </a:r>
          </a:p>
        </p:txBody>
      </p:sp>
      <p:sp>
        <p:nvSpPr>
          <p:cNvPr id="3" name="Content Placeholder 2"/>
          <p:cNvSpPr>
            <a:spLocks noGrp="1"/>
          </p:cNvSpPr>
          <p:nvPr>
            <p:ph idx="1"/>
          </p:nvPr>
        </p:nvSpPr>
        <p:spPr>
          <a:xfrm>
            <a:off x="838200" y="1600200"/>
            <a:ext cx="10515600" cy="4576763"/>
          </a:xfrm>
        </p:spPr>
        <p:txBody>
          <a:bodyPr/>
          <a:lstStyle/>
          <a:p>
            <a:pPr>
              <a:buFont typeface="Wingdings" panose="05000000000000000000" pitchFamily="2" charset="2"/>
              <a:buChar char="q"/>
            </a:pPr>
            <a:r>
              <a:rPr lang="en-US" b="1" dirty="0"/>
              <a:t>How Copyright Infringement Occurs in the Digital Age</a:t>
            </a:r>
          </a:p>
          <a:p>
            <a:pPr>
              <a:buFont typeface="Wingdings" panose="05000000000000000000" pitchFamily="2" charset="2"/>
              <a:buChar char="Ø"/>
            </a:pPr>
            <a:r>
              <a:rPr lang="en-US" b="1" dirty="0"/>
              <a:t>Digital Content and Copyright Challenges:</a:t>
            </a:r>
            <a:endParaRPr lang="en-US" dirty="0"/>
          </a:p>
          <a:p>
            <a:pPr>
              <a:buFont typeface="Wingdings" panose="05000000000000000000" pitchFamily="2" charset="2"/>
              <a:buChar char="ü"/>
            </a:pPr>
            <a:r>
              <a:rPr lang="en-US" b="1" dirty="0"/>
              <a:t>Ease of Copying and Distribution:</a:t>
            </a:r>
            <a:r>
              <a:rPr lang="en-US" dirty="0"/>
              <a:t> The digital environment allows for quick and easy copying and sharing of content, leading to widespread unauthorized distribution (e.g., file sharing, </a:t>
            </a:r>
            <a:r>
              <a:rPr lang="en-US" dirty="0" err="1"/>
              <a:t>torrenting</a:t>
            </a:r>
            <a:r>
              <a:rPr lang="en-US" dirty="0" smtClean="0"/>
              <a:t>).</a:t>
            </a:r>
          </a:p>
          <a:p>
            <a:pPr>
              <a:buFont typeface="Wingdings" panose="05000000000000000000" pitchFamily="2" charset="2"/>
              <a:buChar char="ü"/>
            </a:pPr>
            <a:r>
              <a:rPr lang="en-US" b="1" dirty="0" smtClean="0"/>
              <a:t>Privacy </a:t>
            </a:r>
            <a:r>
              <a:rPr lang="en-US" b="1" dirty="0"/>
              <a:t>and Global Reach:</a:t>
            </a:r>
            <a:r>
              <a:rPr lang="en-US" dirty="0"/>
              <a:t> The internet allows users to remain anonymous and distribute infringing material globally, making enforcement more difficult.</a:t>
            </a:r>
            <a:endParaRPr lang="en-US" dirty="0" smtClean="0"/>
          </a:p>
          <a:p>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3220758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infringement and enforcement</a:t>
            </a:r>
          </a:p>
        </p:txBody>
      </p:sp>
      <p:sp>
        <p:nvSpPr>
          <p:cNvPr id="3" name="Content Placeholder 2"/>
          <p:cNvSpPr>
            <a:spLocks noGrp="1"/>
          </p:cNvSpPr>
          <p:nvPr>
            <p:ph idx="1"/>
          </p:nvPr>
        </p:nvSpPr>
        <p:spPr>
          <a:xfrm>
            <a:off x="926690" y="1579819"/>
            <a:ext cx="10515600" cy="4351338"/>
          </a:xfrm>
        </p:spPr>
        <p:txBody>
          <a:bodyPr/>
          <a:lstStyle/>
          <a:p>
            <a:pPr>
              <a:buFont typeface="Wingdings" panose="05000000000000000000" pitchFamily="2" charset="2"/>
              <a:buChar char="Ø"/>
            </a:pPr>
            <a:r>
              <a:rPr lang="en-US" b="1" dirty="0"/>
              <a:t>Use of Online Platforms:</a:t>
            </a:r>
            <a:r>
              <a:rPr lang="en-US" dirty="0"/>
              <a:t> Platforms like social media, video-sharing sites, and cloud storage services can be used to share infringing content, either knowingly or unknowingly by users</a:t>
            </a:r>
            <a:r>
              <a:rPr lang="en-US" dirty="0" smtClean="0"/>
              <a:t>.</a:t>
            </a:r>
          </a:p>
          <a:p>
            <a:pPr>
              <a:buFont typeface="Wingdings" panose="05000000000000000000" pitchFamily="2" charset="2"/>
              <a:buChar char="q"/>
            </a:pPr>
            <a:r>
              <a:rPr lang="en-US" b="1" dirty="0"/>
              <a:t>Common Forms of Digital Infringement:</a:t>
            </a:r>
            <a:endParaRPr lang="en-US" dirty="0"/>
          </a:p>
          <a:p>
            <a:pPr>
              <a:buFont typeface="Wingdings" panose="05000000000000000000" pitchFamily="2" charset="2"/>
              <a:buChar char="Ø"/>
            </a:pPr>
            <a:r>
              <a:rPr lang="en-US" b="1" dirty="0"/>
              <a:t>File Sharing Networks:</a:t>
            </a:r>
            <a:r>
              <a:rPr lang="en-US" dirty="0"/>
              <a:t> Peer-to-peer (P2P) networks and torrent sites enable the sharing of copyrighted files without authorization.</a:t>
            </a:r>
          </a:p>
          <a:p>
            <a:pPr>
              <a:buFont typeface="Wingdings" panose="05000000000000000000" pitchFamily="2" charset="2"/>
              <a:buChar char="Ø"/>
            </a:pPr>
            <a:r>
              <a:rPr lang="en-US" b="1" dirty="0"/>
              <a:t>Streaming Services:</a:t>
            </a:r>
            <a:r>
              <a:rPr lang="en-US" dirty="0"/>
              <a:t> Illegal streaming services provide access to copyrighted movies, TV shows, music, and live sports without proper licensing.</a:t>
            </a:r>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392930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infringement and enforcement</a:t>
            </a:r>
          </a:p>
        </p:txBody>
      </p:sp>
      <p:sp>
        <p:nvSpPr>
          <p:cNvPr id="3" name="Content Placeholder 2"/>
          <p:cNvSpPr>
            <a:spLocks noGrp="1"/>
          </p:cNvSpPr>
          <p:nvPr>
            <p:ph idx="1"/>
          </p:nvPr>
        </p:nvSpPr>
        <p:spPr>
          <a:xfrm>
            <a:off x="838200" y="1812373"/>
            <a:ext cx="10515600" cy="4351338"/>
          </a:xfrm>
        </p:spPr>
        <p:txBody>
          <a:bodyPr/>
          <a:lstStyle/>
          <a:p>
            <a:pPr>
              <a:buFont typeface="Wingdings" panose="05000000000000000000" pitchFamily="2" charset="2"/>
              <a:buChar char="Ø"/>
            </a:pPr>
            <a:r>
              <a:rPr lang="en-US" b="1" dirty="0"/>
              <a:t>Content Scraping:</a:t>
            </a:r>
            <a:r>
              <a:rPr lang="en-US" dirty="0"/>
              <a:t> Websites that copy and republish content from other sites without permission</a:t>
            </a:r>
            <a:r>
              <a:rPr lang="en-US" dirty="0" smtClean="0"/>
              <a:t>.</a:t>
            </a:r>
          </a:p>
          <a:p>
            <a:pPr>
              <a:buFont typeface="Wingdings" panose="05000000000000000000" pitchFamily="2" charset="2"/>
              <a:buChar char="Ø"/>
            </a:pPr>
            <a:r>
              <a:rPr lang="en-US" b="1" dirty="0" smtClean="0"/>
              <a:t>Data </a:t>
            </a:r>
            <a:r>
              <a:rPr lang="en-US" b="1" dirty="0"/>
              <a:t>Protection</a:t>
            </a:r>
            <a:r>
              <a:rPr lang="en-US" dirty="0"/>
              <a:t>: In 1968, the U.S. government established the first legal framework for computer data protection</a:t>
            </a:r>
            <a:r>
              <a:rPr lang="en-US" dirty="0" smtClean="0"/>
              <a:t>.</a:t>
            </a:r>
          </a:p>
          <a:p>
            <a:pPr>
              <a:buFont typeface="Wingdings" panose="05000000000000000000" pitchFamily="2" charset="2"/>
              <a:buChar char="ü"/>
            </a:pPr>
            <a:r>
              <a:rPr lang="en-US" b="1" dirty="0"/>
              <a:t>Software Piracy:</a:t>
            </a:r>
            <a:r>
              <a:rPr lang="en-US" dirty="0"/>
              <a:t> Unauthorized downloading, copying, or distribution of software, including the use of cracked or key-generated software.</a:t>
            </a:r>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1161133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infringement and enforcement</a:t>
            </a:r>
          </a:p>
        </p:txBody>
      </p:sp>
      <p:sp>
        <p:nvSpPr>
          <p:cNvPr id="3" name="Content Placeholder 2"/>
          <p:cNvSpPr>
            <a:spLocks noGrp="1"/>
          </p:cNvSpPr>
          <p:nvPr>
            <p:ph idx="1"/>
          </p:nvPr>
        </p:nvSpPr>
        <p:spPr>
          <a:xfrm>
            <a:off x="838200" y="1435510"/>
            <a:ext cx="10515600" cy="4741453"/>
          </a:xfrm>
        </p:spPr>
        <p:txBody>
          <a:bodyPr/>
          <a:lstStyle/>
          <a:p>
            <a:pPr>
              <a:buFont typeface="Wingdings" panose="05000000000000000000" pitchFamily="2" charset="2"/>
              <a:buChar char="q"/>
            </a:pPr>
            <a:r>
              <a:rPr lang="en-US" b="1" dirty="0"/>
              <a:t>Consequences of Copyright </a:t>
            </a:r>
            <a:r>
              <a:rPr lang="en-US" b="1" dirty="0" smtClean="0"/>
              <a:t>Infringement</a:t>
            </a:r>
          </a:p>
          <a:p>
            <a:pPr>
              <a:buFont typeface="Wingdings" panose="05000000000000000000" pitchFamily="2" charset="2"/>
              <a:buChar char="Ø"/>
            </a:pPr>
            <a:r>
              <a:rPr lang="en-US" b="1" dirty="0"/>
              <a:t>Legal Consequences:</a:t>
            </a:r>
            <a:endParaRPr lang="en-US" dirty="0"/>
          </a:p>
          <a:p>
            <a:pPr>
              <a:buFont typeface="Wingdings" panose="05000000000000000000" pitchFamily="2" charset="2"/>
              <a:buChar char="ü"/>
            </a:pPr>
            <a:r>
              <a:rPr lang="en-US" b="1" dirty="0"/>
              <a:t>Civil Penalties:</a:t>
            </a:r>
            <a:r>
              <a:rPr lang="en-US" dirty="0"/>
              <a:t> Copyright holders can file lawsuits against infringers to seek damages, including statutory damages, which can range from a few hundred to hundreds of thousands of dollars per work infringed.</a:t>
            </a:r>
          </a:p>
          <a:p>
            <a:pPr>
              <a:buFont typeface="Wingdings" panose="05000000000000000000" pitchFamily="2" charset="2"/>
              <a:buChar char="ü"/>
            </a:pPr>
            <a:r>
              <a:rPr lang="en-US" b="1" dirty="0"/>
              <a:t>Injunctions:</a:t>
            </a:r>
            <a:r>
              <a:rPr lang="en-US" dirty="0"/>
              <a:t> Courts can issue injunctions to prevent the infringer from continuing their infringing activities.</a:t>
            </a:r>
          </a:p>
          <a:p>
            <a:pPr marL="0" indent="0">
              <a:buNone/>
            </a:pPr>
            <a:endParaRPr lang="en-US" b="1"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831763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infringement and enforcement</a:t>
            </a:r>
            <a:r>
              <a:rPr lang="en-SL" dirty="0"/>
              <a:t/>
            </a:r>
            <a:br>
              <a:rPr lang="en-SL" dirty="0"/>
            </a:br>
            <a:endParaRPr lang="en-US" dirty="0"/>
          </a:p>
        </p:txBody>
      </p:sp>
      <p:sp>
        <p:nvSpPr>
          <p:cNvPr id="3" name="Content Placeholder 2"/>
          <p:cNvSpPr>
            <a:spLocks noGrp="1"/>
          </p:cNvSpPr>
          <p:nvPr>
            <p:ph idx="1"/>
          </p:nvPr>
        </p:nvSpPr>
        <p:spPr>
          <a:xfrm>
            <a:off x="838200" y="1425677"/>
            <a:ext cx="10515600" cy="4751286"/>
          </a:xfrm>
        </p:spPr>
        <p:txBody>
          <a:bodyPr>
            <a:normAutofit lnSpcReduction="10000"/>
          </a:bodyPr>
          <a:lstStyle/>
          <a:p>
            <a:pPr>
              <a:buFont typeface="Wingdings" panose="05000000000000000000" pitchFamily="2" charset="2"/>
              <a:buChar char="ü"/>
            </a:pPr>
            <a:r>
              <a:rPr lang="en-US" b="1" dirty="0"/>
              <a:t>Criminal Penalties:</a:t>
            </a:r>
            <a:r>
              <a:rPr lang="en-US" dirty="0"/>
              <a:t> In severe cases, particularly those involving willful infringement for commercial gain, criminal charges may be filed. This can lead to hefty fines and imprisonment</a:t>
            </a:r>
            <a:r>
              <a:rPr lang="en-US" dirty="0" smtClean="0"/>
              <a:t>.</a:t>
            </a:r>
          </a:p>
          <a:p>
            <a:pPr>
              <a:buFont typeface="Wingdings" panose="05000000000000000000" pitchFamily="2" charset="2"/>
              <a:buChar char="q"/>
            </a:pPr>
            <a:r>
              <a:rPr lang="en-US" b="1" dirty="0"/>
              <a:t>Economic and Reputational Impact:</a:t>
            </a:r>
            <a:endParaRPr lang="en-US" dirty="0"/>
          </a:p>
          <a:p>
            <a:pPr>
              <a:buFont typeface="Wingdings" panose="05000000000000000000" pitchFamily="2" charset="2"/>
              <a:buChar char="ü"/>
            </a:pPr>
            <a:r>
              <a:rPr lang="en-US" b="1" dirty="0"/>
              <a:t>Loss of Revenue:</a:t>
            </a:r>
            <a:r>
              <a:rPr lang="en-US" dirty="0"/>
              <a:t> Copyright infringement can lead to significant financial losses for creators and copyright holders, affecting their ability to monetize their work.</a:t>
            </a:r>
          </a:p>
          <a:p>
            <a:pPr>
              <a:buFont typeface="Wingdings" panose="05000000000000000000" pitchFamily="2" charset="2"/>
              <a:buChar char="ü"/>
            </a:pPr>
            <a:r>
              <a:rPr lang="en-US" b="1" dirty="0"/>
              <a:t>Damage to Reputation:</a:t>
            </a:r>
            <a:r>
              <a:rPr lang="en-US" dirty="0"/>
              <a:t> Being involved in infringement, even inadvertently, can harm the reputation of individuals or businesses and result in loss of trust among peers and customers.</a:t>
            </a:r>
          </a:p>
          <a:p>
            <a:pPr>
              <a:buFont typeface="Wingdings" panose="05000000000000000000" pitchFamily="2" charset="2"/>
              <a:buChar char="ü"/>
            </a:pPr>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1366989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infringement and enforcement</a:t>
            </a:r>
            <a:r>
              <a:rPr lang="en-SL" dirty="0"/>
              <a:t/>
            </a:r>
            <a:br>
              <a:rPr lang="en-SL" dirty="0"/>
            </a:br>
            <a:endParaRPr lang="en-US" dirty="0"/>
          </a:p>
        </p:txBody>
      </p:sp>
      <p:sp>
        <p:nvSpPr>
          <p:cNvPr id="3" name="Content Placeholder 2"/>
          <p:cNvSpPr>
            <a:spLocks noGrp="1"/>
          </p:cNvSpPr>
          <p:nvPr>
            <p:ph idx="1"/>
          </p:nvPr>
        </p:nvSpPr>
        <p:spPr>
          <a:xfrm>
            <a:off x="838200" y="1455174"/>
            <a:ext cx="10515600" cy="4788463"/>
          </a:xfrm>
        </p:spPr>
        <p:txBody>
          <a:bodyPr>
            <a:normAutofit/>
          </a:bodyPr>
          <a:lstStyle/>
          <a:p>
            <a:pPr>
              <a:buFont typeface="Wingdings" panose="05000000000000000000" pitchFamily="2" charset="2"/>
              <a:buChar char="q"/>
            </a:pPr>
            <a:r>
              <a:rPr lang="en-US" b="1" dirty="0"/>
              <a:t>Enforcement of Copyright</a:t>
            </a:r>
          </a:p>
          <a:p>
            <a:pPr>
              <a:buFont typeface="Wingdings" panose="05000000000000000000" pitchFamily="2" charset="2"/>
              <a:buChar char="Ø"/>
            </a:pPr>
            <a:r>
              <a:rPr lang="en-US" b="1" dirty="0"/>
              <a:t>Methods of Copyright Enforcement:</a:t>
            </a:r>
            <a:endParaRPr lang="en-US" dirty="0"/>
          </a:p>
          <a:p>
            <a:pPr>
              <a:buFont typeface="Wingdings" panose="05000000000000000000" pitchFamily="2" charset="2"/>
              <a:buChar char="ü"/>
            </a:pPr>
            <a:r>
              <a:rPr lang="en-US" b="1" dirty="0"/>
              <a:t>Cease and Desist Letters:</a:t>
            </a:r>
            <a:r>
              <a:rPr lang="en-US" dirty="0"/>
              <a:t> A formal demand sent by the copyright holder to the infringer, requesting that they stop the infringing activities. This is often the first step in the enforcement process.</a:t>
            </a:r>
          </a:p>
          <a:p>
            <a:pPr>
              <a:buFont typeface="Wingdings" panose="05000000000000000000" pitchFamily="2" charset="2"/>
              <a:buChar char="ü"/>
            </a:pPr>
            <a:r>
              <a:rPr lang="en-US" b="1" dirty="0"/>
              <a:t>Digital Millennium Copyright Act (DMCA) Takedown Notices:</a:t>
            </a:r>
            <a:r>
              <a:rPr lang="en-US" dirty="0"/>
              <a:t> Under the DMCA, copyright holders can request that infringing content be removed from websites, hosting services, and social media platforms. Service providers must comply to avoid liability.</a:t>
            </a:r>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1104771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infringement and enforcement</a:t>
            </a:r>
            <a:r>
              <a:rPr lang="en-SL" dirty="0"/>
              <a:t/>
            </a:r>
            <a:br>
              <a:rPr lang="en-SL" dirty="0"/>
            </a:br>
            <a:endParaRPr lang="en-US" dirty="0"/>
          </a:p>
        </p:txBody>
      </p:sp>
      <p:sp>
        <p:nvSpPr>
          <p:cNvPr id="3" name="Content Placeholder 2"/>
          <p:cNvSpPr>
            <a:spLocks noGrp="1"/>
          </p:cNvSpPr>
          <p:nvPr>
            <p:ph idx="1"/>
          </p:nvPr>
        </p:nvSpPr>
        <p:spPr>
          <a:xfrm>
            <a:off x="838200" y="1474839"/>
            <a:ext cx="10515600" cy="4702124"/>
          </a:xfrm>
        </p:spPr>
        <p:txBody>
          <a:bodyPr>
            <a:normAutofit/>
          </a:bodyPr>
          <a:lstStyle/>
          <a:p>
            <a:pPr>
              <a:buFont typeface="Wingdings" panose="05000000000000000000" pitchFamily="2" charset="2"/>
              <a:buChar char="ü"/>
            </a:pPr>
            <a:r>
              <a:rPr lang="en-US" b="1" dirty="0"/>
              <a:t>Litigation:</a:t>
            </a:r>
            <a:r>
              <a:rPr lang="en-US" dirty="0"/>
              <a:t> Filing a lawsuit in civil court to seek damages and an injunction against further infringement. This can be a lengthy and costly process but is often necessary for serious cases</a:t>
            </a:r>
            <a:r>
              <a:rPr lang="en-US" dirty="0" smtClean="0"/>
              <a:t>. </a:t>
            </a:r>
            <a:r>
              <a:rPr lang="en-US" altLang="en-US" b="1" dirty="0" smtClean="0">
                <a:latin typeface="Arial" panose="020B0604020202020204" pitchFamily="34" charset="0"/>
              </a:rPr>
              <a:t>Intellectual </a:t>
            </a:r>
            <a:r>
              <a:rPr lang="en-US" altLang="en-US" b="1" dirty="0">
                <a:latin typeface="Arial" panose="020B0604020202020204" pitchFamily="34" charset="0"/>
              </a:rPr>
              <a:t>Property in the Digital Age</a:t>
            </a:r>
            <a:r>
              <a:rPr lang="en-US" altLang="en-US" dirty="0">
                <a:latin typeface="Arial" panose="020B0604020202020204" pitchFamily="34" charset="0"/>
              </a:rPr>
              <a:t>: The continuous evolution of digital technologies has led to ongoing changes in copyright, patent, and trademark laws to adapt to new forms of digital content and distribution</a:t>
            </a:r>
            <a:r>
              <a:rPr lang="en-US" altLang="en-US" dirty="0" smtClean="0">
                <a:latin typeface="Arial" panose="020B0604020202020204" pitchFamily="34" charset="0"/>
              </a:rPr>
              <a:t>.</a:t>
            </a:r>
          </a:p>
          <a:p>
            <a:pPr>
              <a:buFont typeface="Wingdings" panose="05000000000000000000" pitchFamily="2" charset="2"/>
              <a:buChar char="ü"/>
            </a:pPr>
            <a:r>
              <a:rPr lang="en-US" b="1" dirty="0"/>
              <a:t>Criminal Prosecution:</a:t>
            </a:r>
            <a:r>
              <a:rPr lang="en-US" dirty="0"/>
              <a:t> In cases of willful infringement for commercial gain, copyright holders can pursue criminal charges, leading to prosecution by government authorities.</a:t>
            </a: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None/>
            </a:pPr>
            <a:endParaRPr lang="en-US" altLang="en-US" dirty="0">
              <a:latin typeface="Arial" panose="020B0604020202020204" pitchFamily="34" charset="0"/>
            </a:endParaRPr>
          </a:p>
          <a:p>
            <a:pPr marL="0" indent="0">
              <a:buNone/>
            </a:pPr>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
        <p:nvSpPr>
          <p:cNvPr id="12" name="Rectangle 8"/>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30609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infringement and enforcement</a:t>
            </a:r>
            <a:r>
              <a:rPr lang="en-SL" dirty="0"/>
              <a:t/>
            </a:r>
            <a:br>
              <a:rPr lang="en-SL" dirty="0"/>
            </a:br>
            <a:endParaRPr lang="en-US" dirty="0"/>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q"/>
            </a:pPr>
            <a:r>
              <a:rPr lang="en-US" b="1" dirty="0"/>
              <a:t>Technological Measures for Enforcement:</a:t>
            </a:r>
            <a:endParaRPr lang="en-US" dirty="0"/>
          </a:p>
          <a:p>
            <a:pPr>
              <a:buFont typeface="Wingdings" panose="05000000000000000000" pitchFamily="2" charset="2"/>
              <a:buChar char="ü"/>
            </a:pPr>
            <a:r>
              <a:rPr lang="en-US" b="1" dirty="0"/>
              <a:t>Digital Rights Management (DRM):</a:t>
            </a:r>
            <a:r>
              <a:rPr lang="en-US" dirty="0"/>
              <a:t> Technology used to control the use, modification, and distribution of copyrighted digital content. DRM can prevent unauthorized copying and sharing.</a:t>
            </a:r>
          </a:p>
          <a:p>
            <a:pPr>
              <a:buFont typeface="Wingdings" panose="05000000000000000000" pitchFamily="2" charset="2"/>
              <a:buChar char="ü"/>
            </a:pPr>
            <a:r>
              <a:rPr lang="en-US" b="1" dirty="0"/>
              <a:t>Watermarking:</a:t>
            </a:r>
            <a:r>
              <a:rPr lang="en-US" dirty="0"/>
              <a:t> Embedding invisible digital watermarks in content that can be used to trace and identify illegal copies.</a:t>
            </a:r>
          </a:p>
          <a:p>
            <a:pPr>
              <a:buFont typeface="Wingdings" panose="05000000000000000000" pitchFamily="2" charset="2"/>
              <a:buChar char="ü"/>
            </a:pPr>
            <a:r>
              <a:rPr lang="en-US" b="1" dirty="0"/>
              <a:t>Content Identification Systems:</a:t>
            </a:r>
            <a:r>
              <a:rPr lang="en-US" dirty="0"/>
              <a:t> Automated systems used by platforms like YouTube to detect and block infringing content. These systems match uploaded content against a database of copyrighted works.</a:t>
            </a:r>
          </a:p>
          <a:p>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200350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infringement and enforcement</a:t>
            </a:r>
            <a:r>
              <a:rPr lang="en-SL" dirty="0"/>
              <a:t/>
            </a:r>
            <a:br>
              <a:rPr lang="en-SL" dirty="0"/>
            </a:br>
            <a:endParaRPr lang="en-US" dirty="0"/>
          </a:p>
        </p:txBody>
      </p:sp>
      <p:sp>
        <p:nvSpPr>
          <p:cNvPr id="3" name="Content Placeholder 2"/>
          <p:cNvSpPr>
            <a:spLocks noGrp="1"/>
          </p:cNvSpPr>
          <p:nvPr>
            <p:ph idx="1"/>
          </p:nvPr>
        </p:nvSpPr>
        <p:spPr>
          <a:xfrm>
            <a:off x="838200" y="1557338"/>
            <a:ext cx="10515600" cy="4619625"/>
          </a:xfrm>
        </p:spPr>
        <p:txBody>
          <a:bodyPr>
            <a:normAutofit fontScale="92500" lnSpcReduction="10000"/>
          </a:bodyPr>
          <a:lstStyle/>
          <a:p>
            <a:pPr>
              <a:buFont typeface="Wingdings" panose="05000000000000000000" pitchFamily="2" charset="2"/>
              <a:buChar char="q"/>
            </a:pPr>
            <a:r>
              <a:rPr lang="en-US" b="1" dirty="0"/>
              <a:t>Preventing Copyright Infringement</a:t>
            </a:r>
          </a:p>
          <a:p>
            <a:pPr>
              <a:buFont typeface="Wingdings" panose="05000000000000000000" pitchFamily="2" charset="2"/>
              <a:buChar char="Ø"/>
            </a:pPr>
            <a:r>
              <a:rPr lang="en-US" b="1" dirty="0"/>
              <a:t>Best Practices for Individuals and Organizations:</a:t>
            </a:r>
            <a:endParaRPr lang="en-US" dirty="0"/>
          </a:p>
          <a:p>
            <a:pPr>
              <a:buFont typeface="Wingdings" panose="05000000000000000000" pitchFamily="2" charset="2"/>
              <a:buChar char="ü"/>
            </a:pPr>
            <a:r>
              <a:rPr lang="en-US" b="1" dirty="0"/>
              <a:t>Education and Awareness:</a:t>
            </a:r>
            <a:r>
              <a:rPr lang="en-US" dirty="0"/>
              <a:t> Understanding copyright laws and the importance of respecting intellectual property rights is essential. Regular training and awareness programs can help prevent unintentional infringement.</a:t>
            </a:r>
          </a:p>
          <a:p>
            <a:pPr>
              <a:buFont typeface="Wingdings" panose="05000000000000000000" pitchFamily="2" charset="2"/>
              <a:buChar char="ü"/>
            </a:pPr>
            <a:r>
              <a:rPr lang="en-US" b="1" dirty="0"/>
              <a:t>Proper Licensing:</a:t>
            </a:r>
            <a:r>
              <a:rPr lang="en-US" dirty="0"/>
              <a:t> Always obtain the necessary licenses and permissions for the use of copyrighted materials, whether for commercial, educational, or personal purposes.</a:t>
            </a:r>
          </a:p>
          <a:p>
            <a:pPr>
              <a:buFont typeface="Wingdings" panose="05000000000000000000" pitchFamily="2" charset="2"/>
              <a:buChar char="ü"/>
            </a:pPr>
            <a:r>
              <a:rPr lang="en-US" b="1" dirty="0"/>
              <a:t>Implementing Policies:</a:t>
            </a:r>
            <a:r>
              <a:rPr lang="en-US" dirty="0"/>
              <a:t> Organizations should have clear policies regarding the use of copyrighted materials and ensure employees are aware of and comply with these policies.</a:t>
            </a:r>
          </a:p>
          <a:p>
            <a:pPr>
              <a:buFont typeface="Wingdings" panose="05000000000000000000" pitchFamily="2" charset="2"/>
              <a:buChar char="ü"/>
            </a:pPr>
            <a:endParaRPr lang="en-US" dirty="0"/>
          </a:p>
          <a:p>
            <a:pPr>
              <a:buFont typeface="Wingdings" panose="05000000000000000000" pitchFamily="2" charset="2"/>
              <a:buChar char="ü"/>
            </a:pPr>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30020903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Copyright infringement and enforcement</a:t>
            </a:r>
            <a:r>
              <a:rPr lang="en-SL" dirty="0"/>
              <a:t/>
            </a:r>
            <a:br>
              <a:rPr lang="en-SL" dirty="0"/>
            </a:br>
            <a:endParaRPr lang="en-US" dirty="0"/>
          </a:p>
        </p:txBody>
      </p:sp>
      <p:sp>
        <p:nvSpPr>
          <p:cNvPr id="3" name="Content Placeholder 2"/>
          <p:cNvSpPr>
            <a:spLocks noGrp="1"/>
          </p:cNvSpPr>
          <p:nvPr>
            <p:ph idx="1"/>
          </p:nvPr>
        </p:nvSpPr>
        <p:spPr>
          <a:xfrm>
            <a:off x="838200" y="1557338"/>
            <a:ext cx="10515600" cy="4619625"/>
          </a:xfrm>
        </p:spPr>
        <p:txBody>
          <a:bodyPr>
            <a:normAutofit fontScale="92500" lnSpcReduction="10000"/>
          </a:bodyPr>
          <a:lstStyle/>
          <a:p>
            <a:pPr>
              <a:buFont typeface="Wingdings" panose="05000000000000000000" pitchFamily="2" charset="2"/>
              <a:buChar char="ü"/>
            </a:pPr>
            <a:r>
              <a:rPr lang="en-US" b="1" dirty="0"/>
              <a:t>Using Open Source and Creative Commons Materials:</a:t>
            </a:r>
            <a:r>
              <a:rPr lang="en-US" dirty="0"/>
              <a:t> When possible, use materials that are openly licensed under Creative Commons or other open-source licenses, which provide clear guidelines on permissible use</a:t>
            </a:r>
            <a:r>
              <a:rPr lang="en-US" dirty="0" smtClean="0"/>
              <a:t>.</a:t>
            </a:r>
          </a:p>
          <a:p>
            <a:pPr>
              <a:buFont typeface="Wingdings" panose="05000000000000000000" pitchFamily="2" charset="2"/>
              <a:buChar char="q"/>
            </a:pPr>
            <a:r>
              <a:rPr lang="en-US" b="1" dirty="0"/>
              <a:t>Role of Copyright Holders:</a:t>
            </a:r>
            <a:endParaRPr lang="en-US" dirty="0"/>
          </a:p>
          <a:p>
            <a:pPr>
              <a:buFont typeface="Wingdings" panose="05000000000000000000" pitchFamily="2" charset="2"/>
              <a:buChar char="ü"/>
            </a:pPr>
            <a:r>
              <a:rPr lang="en-US" b="1" dirty="0"/>
              <a:t>Monitor and Enforce Rights:</a:t>
            </a:r>
            <a:r>
              <a:rPr lang="en-US" dirty="0"/>
              <a:t> Copyright holders should actively monitor the use of their works and enforce their rights when infringement occurs. This may involve hiring services to track online use of copyrighted material or working with legal professionals to pursue enforcement actions.</a:t>
            </a:r>
          </a:p>
          <a:p>
            <a:pPr>
              <a:buFont typeface="Wingdings" panose="05000000000000000000" pitchFamily="2" charset="2"/>
              <a:buChar char="ü"/>
            </a:pPr>
            <a:r>
              <a:rPr lang="en-US" b="1" dirty="0"/>
              <a:t>Collaboration with Platforms:</a:t>
            </a:r>
            <a:r>
              <a:rPr lang="en-US" dirty="0"/>
              <a:t> Working with online platforms to ensure prompt takedown of infringing content and preventing future infringement is crucial.</a:t>
            </a:r>
          </a:p>
          <a:p>
            <a:pPr>
              <a:buFont typeface="Wingdings" panose="05000000000000000000" pitchFamily="2" charset="2"/>
              <a:buChar char="ü"/>
            </a:pPr>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15195126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Fair use / fair dealing concepts in digital environments</a:t>
            </a:r>
            <a:endParaRPr lang="en-US" dirty="0"/>
          </a:p>
        </p:txBody>
      </p:sp>
      <p:sp>
        <p:nvSpPr>
          <p:cNvPr id="3" name="Content Placeholder 2"/>
          <p:cNvSpPr>
            <a:spLocks noGrp="1"/>
          </p:cNvSpPr>
          <p:nvPr>
            <p:ph idx="1"/>
          </p:nvPr>
        </p:nvSpPr>
        <p:spPr>
          <a:xfrm>
            <a:off x="838200" y="1460500"/>
            <a:ext cx="10515600" cy="4822313"/>
          </a:xfrm>
        </p:spPr>
        <p:txBody>
          <a:bodyPr>
            <a:normAutofit lnSpcReduction="10000"/>
          </a:bodyPr>
          <a:lstStyle/>
          <a:p>
            <a:pPr>
              <a:buFont typeface="Wingdings" panose="05000000000000000000" pitchFamily="2" charset="2"/>
              <a:buChar char="v"/>
            </a:pPr>
            <a:r>
              <a:rPr lang="en-US" dirty="0"/>
              <a:t>A key component of copyright law is the Fair Use Doctrine, which permits other persons to use Copyright-protected content without the owner's </a:t>
            </a:r>
            <a:r>
              <a:rPr lang="en-US" dirty="0" smtClean="0"/>
              <a:t>consent.</a:t>
            </a:r>
          </a:p>
          <a:p>
            <a:pPr>
              <a:buFont typeface="Wingdings" panose="05000000000000000000" pitchFamily="2" charset="2"/>
              <a:buChar char="v"/>
            </a:pPr>
            <a:r>
              <a:rPr lang="en-US" dirty="0"/>
              <a:t>Fair use is a legal doctrine that permits limited use of copyrighted material without requiring permission from the rights holder. </a:t>
            </a:r>
            <a:endParaRPr lang="en-US" dirty="0" smtClean="0"/>
          </a:p>
          <a:p>
            <a:pPr>
              <a:buFont typeface="Wingdings" panose="05000000000000000000" pitchFamily="2" charset="2"/>
              <a:buChar char="v"/>
            </a:pPr>
            <a:r>
              <a:rPr lang="en-US" dirty="0" smtClean="0"/>
              <a:t>In </a:t>
            </a:r>
            <a:r>
              <a:rPr lang="en-US" dirty="0"/>
              <a:t>academic settings, fair use often applies to</a:t>
            </a:r>
            <a:r>
              <a:rPr lang="en-US" dirty="0" smtClean="0"/>
              <a:t>:</a:t>
            </a:r>
          </a:p>
          <a:p>
            <a:pPr>
              <a:buFont typeface="Wingdings" panose="05000000000000000000" pitchFamily="2" charset="2"/>
              <a:buChar char="ü"/>
            </a:pPr>
            <a:r>
              <a:rPr lang="en-US" dirty="0"/>
              <a:t>Quotation of brief excerpts for critique, commentary, or analysis</a:t>
            </a:r>
          </a:p>
          <a:p>
            <a:pPr>
              <a:buFont typeface="Wingdings" panose="05000000000000000000" pitchFamily="2" charset="2"/>
              <a:buChar char="ü"/>
            </a:pPr>
            <a:r>
              <a:rPr lang="en-US" dirty="0"/>
              <a:t>Use of copyrighted material for instructional purposes, research, or scholarship</a:t>
            </a:r>
          </a:p>
          <a:p>
            <a:pPr>
              <a:buFont typeface="Wingdings" panose="05000000000000000000" pitchFamily="2" charset="2"/>
              <a:buChar char="ü"/>
            </a:pPr>
            <a:r>
              <a:rPr lang="en-US" dirty="0"/>
              <a:t>Parody or transformative works</a:t>
            </a:r>
          </a:p>
          <a:p>
            <a:pPr marL="0" indent="0">
              <a:buNone/>
            </a:pPr>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7284868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Fair use / fair dealing concepts in digital environments</a:t>
            </a:r>
            <a:endParaRPr lang="en-US" dirty="0"/>
          </a:p>
        </p:txBody>
      </p:sp>
      <p:sp>
        <p:nvSpPr>
          <p:cNvPr id="3" name="Content Placeholder 2"/>
          <p:cNvSpPr>
            <a:spLocks noGrp="1"/>
          </p:cNvSpPr>
          <p:nvPr>
            <p:ph idx="1"/>
          </p:nvPr>
        </p:nvSpPr>
        <p:spPr>
          <a:xfrm>
            <a:off x="838200" y="1460500"/>
            <a:ext cx="10515600" cy="4716463"/>
          </a:xfrm>
        </p:spPr>
        <p:txBody>
          <a:bodyPr>
            <a:normAutofit lnSpcReduction="10000"/>
          </a:bodyPr>
          <a:lstStyle/>
          <a:p>
            <a:pPr>
              <a:buFont typeface="Wingdings" panose="05000000000000000000" pitchFamily="2" charset="2"/>
              <a:buChar char="v"/>
            </a:pPr>
            <a:r>
              <a:rPr lang="en-US" dirty="0"/>
              <a:t>Fair use is determined by several factors, including the purpose of use, the nature of the work, the amount used, and the effect on the market value of the original. However, fair use is context-specific and must be evaluated on a case-by-case basis</a:t>
            </a:r>
            <a:r>
              <a:rPr lang="en-US" dirty="0" smtClean="0"/>
              <a:t>.</a:t>
            </a:r>
          </a:p>
          <a:p>
            <a:pPr>
              <a:buFont typeface="Wingdings" panose="05000000000000000000" pitchFamily="2" charset="2"/>
              <a:buChar char="v"/>
            </a:pPr>
            <a:r>
              <a:rPr lang="en-US" dirty="0"/>
              <a:t>As digital content becomes increasingly integral to daily life, understanding fair dealing is vital for navigating digital content use responsibly. </a:t>
            </a:r>
            <a:endParaRPr lang="en-US" dirty="0" smtClean="0"/>
          </a:p>
          <a:p>
            <a:pPr>
              <a:buFont typeface="Wingdings" panose="05000000000000000000" pitchFamily="2" charset="2"/>
              <a:buChar char="v"/>
            </a:pPr>
            <a:r>
              <a:rPr lang="en-US" dirty="0" smtClean="0"/>
              <a:t>It </a:t>
            </a:r>
            <a:r>
              <a:rPr lang="en-US" dirty="0"/>
              <a:t>safeguards creators’ rights while recognizing the importance of access for education, commentary, and innovation. </a:t>
            </a:r>
            <a:endParaRPr lang="en-US" dirty="0" smtClean="0"/>
          </a:p>
          <a:p>
            <a:pPr>
              <a:buFont typeface="Wingdings" panose="05000000000000000000" pitchFamily="2" charset="2"/>
              <a:buChar char="v"/>
            </a:pPr>
            <a:r>
              <a:rPr lang="en-US" dirty="0" smtClean="0"/>
              <a:t>The </a:t>
            </a:r>
            <a:r>
              <a:rPr lang="en-US" dirty="0"/>
              <a:t>scope of fair dealing varies across jurisdictions but generally includes a range of digital works such as texts, images, audio, and video.</a:t>
            </a:r>
            <a:endParaRPr lang="en-US" dirty="0" smtClean="0"/>
          </a:p>
          <a:p>
            <a:pPr>
              <a:buFont typeface="Wingdings" panose="05000000000000000000" pitchFamily="2" charset="2"/>
              <a:buChar char="Ø"/>
            </a:pPr>
            <a:endParaRPr lang="en-US" dirty="0" smtClean="0"/>
          </a:p>
          <a:p>
            <a:pPr marL="0" indent="0">
              <a:buNone/>
            </a:pPr>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9040180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Fair use / fair dealing concepts in digital environments</a:t>
            </a:r>
            <a:endParaRPr lang="en-US" dirty="0"/>
          </a:p>
        </p:txBody>
      </p:sp>
      <p:sp>
        <p:nvSpPr>
          <p:cNvPr id="3" name="Content Placeholder 2"/>
          <p:cNvSpPr>
            <a:spLocks noGrp="1"/>
          </p:cNvSpPr>
          <p:nvPr>
            <p:ph idx="1"/>
          </p:nvPr>
        </p:nvSpPr>
        <p:spPr>
          <a:xfrm>
            <a:off x="838200" y="1460500"/>
            <a:ext cx="10515600" cy="4716463"/>
          </a:xfrm>
        </p:spPr>
        <p:txBody>
          <a:bodyPr/>
          <a:lstStyle/>
          <a:p>
            <a:pPr>
              <a:buFont typeface="Wingdings" panose="05000000000000000000" pitchFamily="2" charset="2"/>
              <a:buChar char="Ø"/>
            </a:pPr>
            <a:r>
              <a:rPr lang="en-US" dirty="0"/>
              <a:t>Limitations exist to prevent abuse of fair dealing provisions. For instance, commercial uses and uses that harm the market value of the original work are generally not protected. </a:t>
            </a:r>
            <a:endParaRPr lang="en-US" dirty="0" smtClean="0"/>
          </a:p>
          <a:p>
            <a:pPr>
              <a:buFont typeface="Wingdings" panose="05000000000000000000" pitchFamily="2" charset="2"/>
              <a:buChar char="Ø"/>
            </a:pPr>
            <a:r>
              <a:rPr lang="en-US" dirty="0" smtClean="0"/>
              <a:t>Additionally</a:t>
            </a:r>
            <a:r>
              <a:rPr lang="en-US" dirty="0"/>
              <a:t>, the amount and significance of the content used are critical factors in determining whether a particular use falls within fair dealing boundaries.</a:t>
            </a:r>
            <a:endParaRPr lang="en-US" dirty="0" smtClean="0"/>
          </a:p>
          <a:p>
            <a:pPr>
              <a:buFont typeface="Wingdings" panose="05000000000000000000" pitchFamily="2" charset="2"/>
              <a:buChar char="v"/>
            </a:pPr>
            <a:r>
              <a:rPr lang="en-US" b="1" dirty="0"/>
              <a:t>Types of digital works covered under fair dealing</a:t>
            </a:r>
          </a:p>
          <a:p>
            <a:pPr marL="0" indent="0">
              <a:buNone/>
            </a:pPr>
            <a:endParaRPr lang="en-US" dirty="0" smtClean="0"/>
          </a:p>
          <a:p>
            <a:pPr marL="0" indent="0">
              <a:buNone/>
            </a:pPr>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8214178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Understanding copyright and their importance</a:t>
            </a:r>
          </a:p>
        </p:txBody>
      </p:sp>
      <p:sp>
        <p:nvSpPr>
          <p:cNvPr id="3" name="Content Placeholder 2"/>
          <p:cNvSpPr>
            <a:spLocks noGrp="1"/>
          </p:cNvSpPr>
          <p:nvPr>
            <p:ph idx="1"/>
          </p:nvPr>
        </p:nvSpPr>
        <p:spPr>
          <a:xfrm>
            <a:off x="838200" y="1460500"/>
            <a:ext cx="10515600" cy="4716463"/>
          </a:xfrm>
        </p:spPr>
        <p:txBody>
          <a:bodyPr/>
          <a:lstStyle/>
          <a:p>
            <a:pPr>
              <a:buFont typeface="Wingdings" panose="05000000000000000000" pitchFamily="2" charset="2"/>
              <a:buChar char="Ø"/>
            </a:pPr>
            <a:r>
              <a:rPr lang="en-US" dirty="0"/>
              <a:t>Digital works eligible for fair dealing encompass a broad range of content created or stored electronically. </a:t>
            </a:r>
            <a:endParaRPr lang="en-US" dirty="0" smtClean="0"/>
          </a:p>
          <a:p>
            <a:pPr>
              <a:buFont typeface="Wingdings" panose="05000000000000000000" pitchFamily="2" charset="2"/>
              <a:buChar char="Ø"/>
            </a:pPr>
            <a:r>
              <a:rPr lang="en-US" dirty="0" smtClean="0"/>
              <a:t>This </a:t>
            </a:r>
            <a:r>
              <a:rPr lang="en-US" dirty="0"/>
              <a:t>includes digital texts such as </a:t>
            </a:r>
            <a:r>
              <a:rPr lang="en-US" b="1" dirty="0"/>
              <a:t>e-books</a:t>
            </a:r>
            <a:r>
              <a:rPr lang="en-US" dirty="0"/>
              <a:t>, </a:t>
            </a:r>
            <a:r>
              <a:rPr lang="en-US" b="1" dirty="0"/>
              <a:t>articles</a:t>
            </a:r>
            <a:r>
              <a:rPr lang="en-US" dirty="0"/>
              <a:t>, and </a:t>
            </a:r>
            <a:r>
              <a:rPr lang="en-US" b="1" dirty="0"/>
              <a:t>reports</a:t>
            </a:r>
            <a:r>
              <a:rPr lang="en-US" dirty="0"/>
              <a:t>, as well as </a:t>
            </a:r>
            <a:r>
              <a:rPr lang="en-US" b="1" dirty="0"/>
              <a:t>images</a:t>
            </a:r>
            <a:r>
              <a:rPr lang="en-US" dirty="0"/>
              <a:t>, </a:t>
            </a:r>
            <a:r>
              <a:rPr lang="en-US" b="1" dirty="0"/>
              <a:t>videos</a:t>
            </a:r>
            <a:r>
              <a:rPr lang="en-US" dirty="0"/>
              <a:t>, and </a:t>
            </a:r>
            <a:r>
              <a:rPr lang="en-US" b="1" dirty="0"/>
              <a:t>audio recordings</a:t>
            </a:r>
            <a:r>
              <a:rPr lang="en-US" dirty="0"/>
              <a:t>. </a:t>
            </a:r>
            <a:r>
              <a:rPr lang="en-US" dirty="0" smtClean="0"/>
              <a:t>These </a:t>
            </a:r>
            <a:r>
              <a:rPr lang="en-US" dirty="0"/>
              <a:t>digital forms are often used for educational, research, or commentary purposes under fair dealing guidelines.</a:t>
            </a:r>
            <a:endParaRPr lang="en-US" dirty="0" smtClean="0"/>
          </a:p>
          <a:p>
            <a:pPr>
              <a:buFont typeface="Wingdings" panose="05000000000000000000" pitchFamily="2" charset="2"/>
              <a:buChar char="Ø"/>
            </a:pPr>
            <a:endParaRPr lang="en-US" dirty="0" smtClean="0"/>
          </a:p>
          <a:p>
            <a:pPr marL="0" indent="0">
              <a:buNone/>
            </a:pPr>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15958868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Source </a:t>
            </a:r>
            <a:r>
              <a:rPr lang="en-US" dirty="0"/>
              <a:t>code and object code as copyrightable works</a:t>
            </a:r>
            <a:endParaRPr lang="en-US" dirty="0"/>
          </a:p>
        </p:txBody>
      </p:sp>
      <p:sp>
        <p:nvSpPr>
          <p:cNvPr id="3" name="Content Placeholder 2"/>
          <p:cNvSpPr>
            <a:spLocks noGrp="1"/>
          </p:cNvSpPr>
          <p:nvPr>
            <p:ph idx="1"/>
          </p:nvPr>
        </p:nvSpPr>
        <p:spPr>
          <a:xfrm>
            <a:off x="838200" y="1460500"/>
            <a:ext cx="10515600" cy="4895850"/>
          </a:xfrm>
        </p:spPr>
        <p:txBody>
          <a:bodyPr>
            <a:normAutofit lnSpcReduction="10000"/>
          </a:bodyPr>
          <a:lstStyle/>
          <a:p>
            <a:pPr>
              <a:buFont typeface="Wingdings" panose="05000000000000000000" pitchFamily="2" charset="2"/>
              <a:buChar char="Ø"/>
            </a:pPr>
            <a:r>
              <a:rPr lang="en-US" dirty="0"/>
              <a:t>Software copyright law provides legal protection for software by </a:t>
            </a:r>
            <a:r>
              <a:rPr lang="en-US" dirty="0" smtClean="0"/>
              <a:t>recognizing </a:t>
            </a:r>
            <a:r>
              <a:rPr lang="en-US" dirty="0"/>
              <a:t>it as a unique form of intellectual </a:t>
            </a:r>
            <a:r>
              <a:rPr lang="en-US" dirty="0" smtClean="0"/>
              <a:t>property.</a:t>
            </a:r>
          </a:p>
          <a:p>
            <a:pPr>
              <a:buFont typeface="Wingdings" panose="05000000000000000000" pitchFamily="2" charset="2"/>
              <a:buChar char="Ø"/>
            </a:pPr>
            <a:r>
              <a:rPr lang="en-US" dirty="0"/>
              <a:t>The crucial aspects of software copyright protection are:</a:t>
            </a:r>
          </a:p>
          <a:p>
            <a:pPr fontAlgn="base">
              <a:buFont typeface="Wingdings" panose="05000000000000000000" pitchFamily="2" charset="2"/>
              <a:buChar char="ü"/>
            </a:pPr>
            <a:r>
              <a:rPr lang="en-US" b="1" dirty="0"/>
              <a:t>Originality</a:t>
            </a:r>
            <a:r>
              <a:rPr lang="en-US" dirty="0"/>
              <a:t>: The software must be the result of the developer’s independent creation and not copied from existing works.</a:t>
            </a:r>
          </a:p>
          <a:p>
            <a:pPr fontAlgn="base">
              <a:buFont typeface="Wingdings" panose="05000000000000000000" pitchFamily="2" charset="2"/>
              <a:buChar char="ü"/>
            </a:pPr>
            <a:r>
              <a:rPr lang="en-US" b="1" dirty="0"/>
              <a:t>Fixation</a:t>
            </a:r>
            <a:r>
              <a:rPr lang="en-US" dirty="0"/>
              <a:t>: The software must be stored or embodied in a tangible medium, such as written code, electronic files, or even hard drives.</a:t>
            </a:r>
          </a:p>
          <a:p>
            <a:pPr fontAlgn="base">
              <a:buFont typeface="Wingdings" panose="05000000000000000000" pitchFamily="2" charset="2"/>
              <a:buChar char="ü"/>
            </a:pPr>
            <a:r>
              <a:rPr lang="en-US" b="1" dirty="0"/>
              <a:t>Ownership</a:t>
            </a:r>
            <a:r>
              <a:rPr lang="en-US" dirty="0"/>
              <a:t>: Generally, the author of the software or their employer holds the copyright, though collaborations and licensing agreements can influence specific ownership arrangements.</a:t>
            </a:r>
          </a:p>
          <a:p>
            <a:pPr>
              <a:buFont typeface="Wingdings" panose="05000000000000000000" pitchFamily="2" charset="2"/>
              <a:buChar char="Ø"/>
            </a:pPr>
            <a:endParaRPr lang="en-US" dirty="0" smtClean="0"/>
          </a:p>
          <a:p>
            <a:pPr>
              <a:buFont typeface="Wingdings" panose="05000000000000000000" pitchFamily="2" charset="2"/>
              <a:buChar char="Ø"/>
            </a:pPr>
            <a:endParaRPr lang="en-US" dirty="0" smtClean="0"/>
          </a:p>
          <a:p>
            <a:pPr marL="0" indent="0">
              <a:buNone/>
            </a:pPr>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35262862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Source </a:t>
            </a:r>
            <a:r>
              <a:rPr lang="en-US" dirty="0"/>
              <a:t>code and object code as copyrightable works</a:t>
            </a:r>
            <a:endParaRPr lang="en-US" dirty="0"/>
          </a:p>
        </p:txBody>
      </p:sp>
      <p:sp>
        <p:nvSpPr>
          <p:cNvPr id="3" name="Content Placeholder 2"/>
          <p:cNvSpPr>
            <a:spLocks noGrp="1"/>
          </p:cNvSpPr>
          <p:nvPr>
            <p:ph idx="1"/>
          </p:nvPr>
        </p:nvSpPr>
        <p:spPr>
          <a:xfrm>
            <a:off x="838200" y="1460500"/>
            <a:ext cx="10515600" cy="4716463"/>
          </a:xfrm>
        </p:spPr>
        <p:txBody>
          <a:bodyPr>
            <a:normAutofit fontScale="92500" lnSpcReduction="10000"/>
          </a:bodyPr>
          <a:lstStyle/>
          <a:p>
            <a:pPr>
              <a:buFont typeface="Wingdings" panose="05000000000000000000" pitchFamily="2" charset="2"/>
              <a:buChar char="Ø"/>
            </a:pPr>
            <a:r>
              <a:rPr lang="en-US" b="1" dirty="0"/>
              <a:t>Scope and Limitations of Software Copyright Protection</a:t>
            </a:r>
            <a:endParaRPr lang="en-US" dirty="0"/>
          </a:p>
          <a:p>
            <a:pPr>
              <a:buFont typeface="Wingdings" panose="05000000000000000000" pitchFamily="2" charset="2"/>
              <a:buChar char="q"/>
            </a:pPr>
            <a:r>
              <a:rPr lang="en-US" dirty="0"/>
              <a:t>Software copyright protection extends to various elements, including the expression of ideas, functionality, user interfaces, and even software architecture. However, some limitations are worth noting:</a:t>
            </a:r>
          </a:p>
          <a:p>
            <a:pPr fontAlgn="base">
              <a:buFont typeface="Wingdings" panose="05000000000000000000" pitchFamily="2" charset="2"/>
              <a:buChar char="ü"/>
            </a:pPr>
            <a:r>
              <a:rPr lang="en-US" b="1" dirty="0"/>
              <a:t>Ideas versus Expression</a:t>
            </a:r>
            <a:r>
              <a:rPr lang="en-US" dirty="0"/>
              <a:t>: Copyright law protects the expression of ideas, not the ideas themselves. This means that while the source code and object code are protected, underlying concepts or algorithms may not be.</a:t>
            </a:r>
          </a:p>
          <a:p>
            <a:pPr fontAlgn="base">
              <a:buFont typeface="Wingdings" panose="05000000000000000000" pitchFamily="2" charset="2"/>
              <a:buChar char="ü"/>
            </a:pPr>
            <a:r>
              <a:rPr lang="en-US" b="1" dirty="0"/>
              <a:t>Fair Use and Exceptions</a:t>
            </a:r>
            <a:r>
              <a:rPr lang="en-US" dirty="0"/>
              <a:t>: There are specific exceptions in copyright law, such as fair use, which permit limited use of copyrighted material for specific purposes, such as for education, research, or criticism, without the need for permission from the copyright holder.</a:t>
            </a:r>
          </a:p>
          <a:p>
            <a:pPr marL="0" indent="0">
              <a:buNone/>
            </a:pPr>
            <a:endParaRPr lang="en-US" dirty="0" smtClean="0"/>
          </a:p>
          <a:p>
            <a:pPr>
              <a:buFont typeface="Wingdings" panose="05000000000000000000" pitchFamily="2" charset="2"/>
              <a:buChar char="Ø"/>
            </a:pPr>
            <a:endParaRPr lang="en-US" dirty="0" smtClean="0"/>
          </a:p>
          <a:p>
            <a:pPr marL="0" indent="0">
              <a:buNone/>
            </a:pPr>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35776162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Source </a:t>
            </a:r>
            <a:r>
              <a:rPr lang="en-US" dirty="0"/>
              <a:t>code and object code as copyrightable works</a:t>
            </a:r>
            <a:endParaRPr lang="en-US" dirty="0"/>
          </a:p>
        </p:txBody>
      </p:sp>
      <p:sp>
        <p:nvSpPr>
          <p:cNvPr id="3" name="Content Placeholder 2"/>
          <p:cNvSpPr>
            <a:spLocks noGrp="1"/>
          </p:cNvSpPr>
          <p:nvPr>
            <p:ph idx="1"/>
          </p:nvPr>
        </p:nvSpPr>
        <p:spPr>
          <a:xfrm>
            <a:off x="838200" y="1460500"/>
            <a:ext cx="10515600" cy="4716463"/>
          </a:xfrm>
        </p:spPr>
        <p:txBody>
          <a:bodyPr>
            <a:normAutofit lnSpcReduction="10000"/>
          </a:bodyPr>
          <a:lstStyle/>
          <a:p>
            <a:pPr>
              <a:buFont typeface="Wingdings" panose="05000000000000000000" pitchFamily="2" charset="2"/>
              <a:buChar char="v"/>
            </a:pPr>
            <a:r>
              <a:rPr lang="en-US" b="1" dirty="0"/>
              <a:t>Practical Implications for Developers</a:t>
            </a:r>
          </a:p>
          <a:p>
            <a:pPr>
              <a:buFont typeface="Wingdings" panose="05000000000000000000" pitchFamily="2" charset="2"/>
              <a:buChar char="Ø"/>
            </a:pPr>
            <a:r>
              <a:rPr lang="en-US" b="1" dirty="0"/>
              <a:t>Ownership:</a:t>
            </a:r>
            <a:r>
              <a:rPr lang="en-US" dirty="0"/>
              <a:t> If you write code as an employee, it is usually a </a:t>
            </a:r>
            <a:r>
              <a:rPr lang="en-US" b="1" dirty="0" smtClean="0"/>
              <a:t>Work </a:t>
            </a:r>
            <a:r>
              <a:rPr lang="en-US" b="1" dirty="0"/>
              <a:t>Made for Hire</a:t>
            </a:r>
            <a:r>
              <a:rPr lang="en-US" b="1" dirty="0" smtClean="0"/>
              <a:t>,</a:t>
            </a:r>
            <a:r>
              <a:rPr lang="en-US" dirty="0" smtClean="0"/>
              <a:t> </a:t>
            </a:r>
            <a:r>
              <a:rPr lang="en-US" dirty="0"/>
              <a:t>and the company owns the copyright. If you are a freelancer, you generally own the copyright unless a contract states otherwise.</a:t>
            </a:r>
          </a:p>
          <a:p>
            <a:pPr>
              <a:buFont typeface="Wingdings" panose="05000000000000000000" pitchFamily="2" charset="2"/>
              <a:buChar char="Ø"/>
            </a:pPr>
            <a:r>
              <a:rPr lang="en-US" b="1" dirty="0"/>
              <a:t>Open Source:</a:t>
            </a:r>
            <a:r>
              <a:rPr lang="en-US" dirty="0"/>
              <a:t> Licenses like MIT or GPL don't give up the copyright; they are legal permissions granted by the copyright holder to the public under specific conditions.</a:t>
            </a:r>
          </a:p>
          <a:p>
            <a:pPr>
              <a:buFont typeface="Wingdings" panose="05000000000000000000" pitchFamily="2" charset="2"/>
              <a:buChar char="Ø"/>
            </a:pPr>
            <a:r>
              <a:rPr lang="en-US" b="1" dirty="0"/>
              <a:t>Infringement:</a:t>
            </a:r>
            <a:r>
              <a:rPr lang="en-US" dirty="0"/>
              <a:t> </a:t>
            </a:r>
            <a:r>
              <a:rPr lang="en-US" dirty="0" smtClean="0"/>
              <a:t>Non-literal </a:t>
            </a:r>
            <a:r>
              <a:rPr lang="en-US" dirty="0"/>
              <a:t>copying (copying the structure and organization without copying the exact words) can still be a copyright violation if the "look and feel" or the unique architecture is stolen.</a:t>
            </a:r>
          </a:p>
          <a:p>
            <a:pPr marL="0" indent="0">
              <a:buNone/>
            </a:pPr>
            <a:endParaRPr lang="en-US" dirty="0" smtClean="0"/>
          </a:p>
          <a:p>
            <a:pPr>
              <a:buFont typeface="Wingdings" panose="05000000000000000000" pitchFamily="2" charset="2"/>
              <a:buChar char="Ø"/>
            </a:pPr>
            <a:endParaRPr lang="en-US" dirty="0" smtClean="0"/>
          </a:p>
          <a:p>
            <a:pPr marL="0" indent="0">
              <a:buNone/>
            </a:pPr>
            <a:endParaRPr lang="en-US" dirty="0"/>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679342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endParaRPr lang="en-US" dirty="0"/>
          </a:p>
          <a:p>
            <a:endParaRPr lang="en-US" dirty="0" smtClean="0"/>
          </a:p>
          <a:p>
            <a:endParaRPr lang="en-US" dirty="0"/>
          </a:p>
          <a:p>
            <a:r>
              <a:rPr lang="en-US" dirty="0" smtClean="0"/>
              <a:t>                                 </a:t>
            </a:r>
            <a:r>
              <a:rPr lang="en-US" b="1" dirty="0" smtClean="0"/>
              <a:t>THANKS</a:t>
            </a:r>
          </a:p>
        </p:txBody>
      </p:sp>
      <p:sp>
        <p:nvSpPr>
          <p:cNvPr id="4" name="Footer Placeholder 3"/>
          <p:cNvSpPr>
            <a:spLocks noGrp="1"/>
          </p:cNvSpPr>
          <p:nvPr>
            <p:ph type="ftr" sz="quarter" idx="3"/>
          </p:nvPr>
        </p:nvSpPr>
        <p:spPr/>
        <p:txBody>
          <a:bodyPr/>
          <a:lstStyle/>
          <a:p>
            <a:r>
              <a:rPr lang="en-GB" smtClean="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1650098343"/>
      </p:ext>
    </p:extLst>
  </p:cSld>
  <p:clrMapOvr>
    <a:masterClrMapping/>
  </p:clrMapOvr>
</p:sld>
</file>

<file path=ppt/theme/theme1.xml><?xml version="1.0" encoding="utf-8"?>
<a:theme xmlns:a="http://schemas.openxmlformats.org/drawingml/2006/main" name="Office Theme">
  <a:themeElements>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themeOverride>
</file>

<file path=docProps/app.xml><?xml version="1.0" encoding="utf-8"?>
<Properties xmlns="http://schemas.openxmlformats.org/officeDocument/2006/extended-properties" xmlns:vt="http://schemas.openxmlformats.org/officeDocument/2006/docPropsVTypes">
  <Template/>
  <TotalTime>14001</TotalTime>
  <Words>2723</Words>
  <Application>Microsoft Office PowerPoint</Application>
  <PresentationFormat>Widescreen</PresentationFormat>
  <Paragraphs>198</Paragraphs>
  <Slides>33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Tahoma</vt:lpstr>
      <vt:lpstr>Wingdings</vt:lpstr>
      <vt:lpstr>Office Theme</vt:lpstr>
      <vt:lpstr>TOPIC: COPYRIGHT AND SOFTWARE OWNERSHIP</vt:lpstr>
      <vt:lpstr>COUSER OUTLINE</vt:lpstr>
      <vt:lpstr>COPYRIGHT</vt:lpstr>
      <vt:lpstr>Understanding copyright and their importance</vt:lpstr>
      <vt:lpstr>Understanding copyright and their importance</vt:lpstr>
      <vt:lpstr>Understanding copyright and their importance</vt:lpstr>
      <vt:lpstr>Understanding copyright and their importance</vt:lpstr>
      <vt:lpstr>Copyright in the digital age: software, digital content</vt:lpstr>
      <vt:lpstr>Copyright in the digital age: software, digital content</vt:lpstr>
      <vt:lpstr>Copyright in the digital age: software, digital content</vt:lpstr>
      <vt:lpstr>Copyright in the digital age: software, digital content</vt:lpstr>
      <vt:lpstr>Copyright in the digital age: software, digital content</vt:lpstr>
      <vt:lpstr>Copyright infringement and enforcement</vt:lpstr>
      <vt:lpstr>Copyright infringement and enforcement</vt:lpstr>
      <vt:lpstr>Copyright infringement and enforcement</vt:lpstr>
      <vt:lpstr>Copyright infringement and enforcement</vt:lpstr>
      <vt:lpstr>Copyright infringement and enforcement</vt:lpstr>
      <vt:lpstr>Copyright infringement and enforcement</vt:lpstr>
      <vt:lpstr>Copyright infringement and enforcement</vt:lpstr>
      <vt:lpstr>Copyright infringement and enforcement </vt:lpstr>
      <vt:lpstr>Copyright infringement and enforcement </vt:lpstr>
      <vt:lpstr>Copyright infringement and enforcement </vt:lpstr>
      <vt:lpstr>Copyright infringement and enforcement </vt:lpstr>
      <vt:lpstr>Copyright infringement and enforcement </vt:lpstr>
      <vt:lpstr>Copyright infringement and enforcement </vt:lpstr>
      <vt:lpstr>Fair use / fair dealing concepts in digital environments</vt:lpstr>
      <vt:lpstr>Fair use / fair dealing concepts in digital environments</vt:lpstr>
      <vt:lpstr>Fair use / fair dealing concepts in digital environments</vt:lpstr>
      <vt:lpstr>Understanding copyright and their importance</vt:lpstr>
      <vt:lpstr>Source code and object code as copyrightable works</vt:lpstr>
      <vt:lpstr>Source code and object code as copyrightable works</vt:lpstr>
      <vt:lpstr>Source code and object code as copyrightable works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Mr Sheku</cp:lastModifiedBy>
  <cp:revision>61</cp:revision>
  <dcterms:created xsi:type="dcterms:W3CDTF">2023-03-30T14:56:20Z</dcterms:created>
  <dcterms:modified xsi:type="dcterms:W3CDTF">2026-03-24T09:06:48Z</dcterms:modified>
</cp:coreProperties>
</file>